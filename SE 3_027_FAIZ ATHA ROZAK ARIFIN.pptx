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lacial Indifference Bold" charset="1" panose="00000800000000000000"/>
      <p:regular r:id="rId18"/>
    </p:embeddedFont>
    <p:embeddedFont>
      <p:font typeface="Glacial Indifference"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5.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39515" y="6668606"/>
            <a:ext cx="5348485" cy="3618394"/>
            <a:chOff x="0" y="0"/>
            <a:chExt cx="1408655" cy="952993"/>
          </a:xfrm>
        </p:grpSpPr>
        <p:sp>
          <p:nvSpPr>
            <p:cNvPr name="Freeform 3" id="3"/>
            <p:cNvSpPr/>
            <p:nvPr/>
          </p:nvSpPr>
          <p:spPr>
            <a:xfrm flipH="false" flipV="false" rot="0">
              <a:off x="0" y="0"/>
              <a:ext cx="1408655" cy="952993"/>
            </a:xfrm>
            <a:custGeom>
              <a:avLst/>
              <a:gdLst/>
              <a:ahLst/>
              <a:cxnLst/>
              <a:rect r="r" b="b" t="t" l="l"/>
              <a:pathLst>
                <a:path h="952993" w="1408655">
                  <a:moveTo>
                    <a:pt x="0" y="0"/>
                  </a:moveTo>
                  <a:lnTo>
                    <a:pt x="1408655" y="0"/>
                  </a:lnTo>
                  <a:lnTo>
                    <a:pt x="1408655" y="952993"/>
                  </a:lnTo>
                  <a:lnTo>
                    <a:pt x="0" y="952993"/>
                  </a:lnTo>
                  <a:close/>
                </a:path>
              </a:pathLst>
            </a:custGeom>
            <a:solidFill>
              <a:srgbClr val="E4E4E4"/>
            </a:solidFill>
          </p:spPr>
        </p:sp>
        <p:sp>
          <p:nvSpPr>
            <p:cNvPr name="TextBox 4" id="4"/>
            <p:cNvSpPr txBox="true"/>
            <p:nvPr/>
          </p:nvSpPr>
          <p:spPr>
            <a:xfrm>
              <a:off x="0" y="-38100"/>
              <a:ext cx="1408655" cy="9910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620542" y="4995091"/>
            <a:ext cx="1327633" cy="1327633"/>
          </a:xfrm>
          <a:custGeom>
            <a:avLst/>
            <a:gdLst/>
            <a:ahLst/>
            <a:cxnLst/>
            <a:rect r="r" b="b" t="t" l="l"/>
            <a:pathLst>
              <a:path h="1327633" w="1327633">
                <a:moveTo>
                  <a:pt x="0" y="0"/>
                </a:moveTo>
                <a:lnTo>
                  <a:pt x="1327634" y="0"/>
                </a:lnTo>
                <a:lnTo>
                  <a:pt x="1327634" y="1327634"/>
                </a:lnTo>
                <a:lnTo>
                  <a:pt x="0" y="1327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020210" y="-1958101"/>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5351247" y="4400741"/>
            <a:ext cx="803180" cy="742759"/>
            <a:chOff x="0" y="0"/>
            <a:chExt cx="211537" cy="195624"/>
          </a:xfrm>
        </p:grpSpPr>
        <p:sp>
          <p:nvSpPr>
            <p:cNvPr name="Freeform 8" id="8"/>
            <p:cNvSpPr/>
            <p:nvPr/>
          </p:nvSpPr>
          <p:spPr>
            <a:xfrm flipH="false" flipV="false" rot="0">
              <a:off x="0" y="0"/>
              <a:ext cx="211537" cy="195624"/>
            </a:xfrm>
            <a:custGeom>
              <a:avLst/>
              <a:gdLst/>
              <a:ahLst/>
              <a:cxnLst/>
              <a:rect r="r" b="b" t="t" l="l"/>
              <a:pathLst>
                <a:path h="195624" w="211537">
                  <a:moveTo>
                    <a:pt x="0" y="0"/>
                  </a:moveTo>
                  <a:lnTo>
                    <a:pt x="211537" y="0"/>
                  </a:lnTo>
                  <a:lnTo>
                    <a:pt x="211537" y="195624"/>
                  </a:lnTo>
                  <a:lnTo>
                    <a:pt x="0" y="195624"/>
                  </a:lnTo>
                  <a:close/>
                </a:path>
              </a:pathLst>
            </a:custGeom>
            <a:solidFill>
              <a:srgbClr val="5CE1E6"/>
            </a:solidFill>
          </p:spPr>
        </p:sp>
        <p:sp>
          <p:nvSpPr>
            <p:cNvPr name="TextBox 9" id="9"/>
            <p:cNvSpPr txBox="true"/>
            <p:nvPr/>
          </p:nvSpPr>
          <p:spPr>
            <a:xfrm>
              <a:off x="0" y="-38100"/>
              <a:ext cx="211537" cy="23372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619741" cy="2934068"/>
            <a:chOff x="0" y="0"/>
            <a:chExt cx="163224" cy="772759"/>
          </a:xfrm>
        </p:grpSpPr>
        <p:sp>
          <p:nvSpPr>
            <p:cNvPr name="Freeform 11" id="11"/>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CE1E6"/>
            </a:solidFill>
          </p:spPr>
        </p:sp>
        <p:sp>
          <p:nvSpPr>
            <p:cNvPr name="TextBox 12" id="12"/>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2933707"/>
            <a:ext cx="619741" cy="1004046"/>
            <a:chOff x="0" y="0"/>
            <a:chExt cx="163224" cy="264440"/>
          </a:xfrm>
        </p:grpSpPr>
        <p:sp>
          <p:nvSpPr>
            <p:cNvPr name="Freeform 14" id="14"/>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38B6FF"/>
            </a:solidFill>
          </p:spPr>
        </p:sp>
        <p:sp>
          <p:nvSpPr>
            <p:cNvPr name="TextBox 15" id="15"/>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6668606"/>
            <a:ext cx="12939515" cy="3618394"/>
            <a:chOff x="0" y="0"/>
            <a:chExt cx="3407938" cy="952993"/>
          </a:xfrm>
        </p:grpSpPr>
        <p:sp>
          <p:nvSpPr>
            <p:cNvPr name="Freeform 17" id="17"/>
            <p:cNvSpPr/>
            <p:nvPr/>
          </p:nvSpPr>
          <p:spPr>
            <a:xfrm flipH="false" flipV="false" rot="0">
              <a:off x="0" y="0"/>
              <a:ext cx="3407938" cy="952993"/>
            </a:xfrm>
            <a:custGeom>
              <a:avLst/>
              <a:gdLst/>
              <a:ahLst/>
              <a:cxnLst/>
              <a:rect r="r" b="b" t="t" l="l"/>
              <a:pathLst>
                <a:path h="952993" w="3407938">
                  <a:moveTo>
                    <a:pt x="0" y="0"/>
                  </a:moveTo>
                  <a:lnTo>
                    <a:pt x="3407938" y="0"/>
                  </a:lnTo>
                  <a:lnTo>
                    <a:pt x="3407938" y="952993"/>
                  </a:lnTo>
                  <a:lnTo>
                    <a:pt x="0" y="952993"/>
                  </a:lnTo>
                  <a:close/>
                </a:path>
              </a:pathLst>
            </a:custGeom>
            <a:solidFill>
              <a:srgbClr val="5CE1E6"/>
            </a:solidFill>
          </p:spPr>
        </p:sp>
        <p:sp>
          <p:nvSpPr>
            <p:cNvPr name="TextBox 18" id="18"/>
            <p:cNvSpPr txBox="true"/>
            <p:nvPr/>
          </p:nvSpPr>
          <p:spPr>
            <a:xfrm>
              <a:off x="0" y="-38100"/>
              <a:ext cx="3407938" cy="99109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967885" y="7117855"/>
            <a:ext cx="143103" cy="2691310"/>
            <a:chOff x="0" y="0"/>
            <a:chExt cx="37690" cy="708822"/>
          </a:xfrm>
        </p:grpSpPr>
        <p:sp>
          <p:nvSpPr>
            <p:cNvPr name="Freeform 20" id="20"/>
            <p:cNvSpPr/>
            <p:nvPr/>
          </p:nvSpPr>
          <p:spPr>
            <a:xfrm flipH="false" flipV="false" rot="0">
              <a:off x="0" y="0"/>
              <a:ext cx="37690" cy="708822"/>
            </a:xfrm>
            <a:custGeom>
              <a:avLst/>
              <a:gdLst/>
              <a:ahLst/>
              <a:cxnLst/>
              <a:rect r="r" b="b" t="t" l="l"/>
              <a:pathLst>
                <a:path h="708822" w="37690">
                  <a:moveTo>
                    <a:pt x="0" y="0"/>
                  </a:moveTo>
                  <a:lnTo>
                    <a:pt x="37690" y="0"/>
                  </a:lnTo>
                  <a:lnTo>
                    <a:pt x="37690" y="708822"/>
                  </a:lnTo>
                  <a:lnTo>
                    <a:pt x="0" y="708822"/>
                  </a:lnTo>
                  <a:close/>
                </a:path>
              </a:pathLst>
            </a:custGeom>
            <a:solidFill>
              <a:srgbClr val="38B6FF"/>
            </a:solidFill>
          </p:spPr>
        </p:sp>
        <p:sp>
          <p:nvSpPr>
            <p:cNvPr name="TextBox 21" id="21"/>
            <p:cNvSpPr txBox="true"/>
            <p:nvPr/>
          </p:nvSpPr>
          <p:spPr>
            <a:xfrm>
              <a:off x="0" y="-38100"/>
              <a:ext cx="37690" cy="746922"/>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959332" y="3023002"/>
            <a:ext cx="12052325" cy="2159704"/>
          </a:xfrm>
          <a:prstGeom prst="rect">
            <a:avLst/>
          </a:prstGeom>
        </p:spPr>
        <p:txBody>
          <a:bodyPr anchor="t" rtlCol="false" tIns="0" lIns="0" bIns="0" rIns="0">
            <a:spAutoFit/>
          </a:bodyPr>
          <a:lstStyle/>
          <a:p>
            <a:pPr algn="l">
              <a:lnSpc>
                <a:spcPts val="8434"/>
              </a:lnSpc>
            </a:pPr>
            <a:r>
              <a:rPr lang="en-US" sz="7148" b="true">
                <a:solidFill>
                  <a:srgbClr val="000000"/>
                </a:solidFill>
                <a:latin typeface="Glacial Indifference Bold"/>
                <a:ea typeface="Glacial Indifference Bold"/>
                <a:cs typeface="Glacial Indifference Bold"/>
                <a:sym typeface="Glacial Indifference Bold"/>
              </a:rPr>
              <a:t>MODUL 03: </a:t>
            </a:r>
          </a:p>
          <a:p>
            <a:pPr algn="l">
              <a:lnSpc>
                <a:spcPts val="8434"/>
              </a:lnSpc>
            </a:pPr>
            <a:r>
              <a:rPr lang="en-US" sz="7148" b="true">
                <a:solidFill>
                  <a:srgbClr val="000000"/>
                </a:solidFill>
                <a:latin typeface="Glacial Indifference Bold"/>
                <a:ea typeface="Glacial Indifference Bold"/>
                <a:cs typeface="Glacial Indifference Bold"/>
                <a:sym typeface="Glacial Indifference Bold"/>
              </a:rPr>
              <a:t>SERIAL</a:t>
            </a:r>
          </a:p>
        </p:txBody>
      </p:sp>
      <p:sp>
        <p:nvSpPr>
          <p:cNvPr name="TextBox 23" id="23"/>
          <p:cNvSpPr txBox="true"/>
          <p:nvPr/>
        </p:nvSpPr>
        <p:spPr>
          <a:xfrm rot="0">
            <a:off x="2676921" y="8534674"/>
            <a:ext cx="7728073"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TEKNOLOGI REKAYASA OTOMASI 2024</a:t>
            </a:r>
          </a:p>
        </p:txBody>
      </p:sp>
      <p:sp>
        <p:nvSpPr>
          <p:cNvPr name="TextBox 24" id="24"/>
          <p:cNvSpPr txBox="true"/>
          <p:nvPr/>
        </p:nvSpPr>
        <p:spPr>
          <a:xfrm rot="0">
            <a:off x="2676921" y="7032130"/>
            <a:ext cx="5934777" cy="688975"/>
          </a:xfrm>
          <a:prstGeom prst="rect">
            <a:avLst/>
          </a:prstGeom>
        </p:spPr>
        <p:txBody>
          <a:bodyPr anchor="t" rtlCol="false" tIns="0" lIns="0" bIns="0" rIns="0">
            <a:spAutoFit/>
          </a:bodyPr>
          <a:lstStyle/>
          <a:p>
            <a:pPr algn="l">
              <a:lnSpc>
                <a:spcPts val="5599"/>
              </a:lnSpc>
            </a:pPr>
            <a:r>
              <a:rPr lang="en-US" sz="3999" b="true">
                <a:solidFill>
                  <a:srgbClr val="FFFFFF"/>
                </a:solidFill>
                <a:latin typeface="Glacial Indifference Bold"/>
                <a:ea typeface="Glacial Indifference Bold"/>
                <a:cs typeface="Glacial Indifference Bold"/>
                <a:sym typeface="Glacial Indifference Bold"/>
              </a:rPr>
              <a:t>FAIZ ATHA ROZAK ARIFIN</a:t>
            </a:r>
          </a:p>
        </p:txBody>
      </p:sp>
      <p:sp>
        <p:nvSpPr>
          <p:cNvPr name="TextBox 25" id="25"/>
          <p:cNvSpPr txBox="true"/>
          <p:nvPr/>
        </p:nvSpPr>
        <p:spPr>
          <a:xfrm rot="0">
            <a:off x="2676921" y="7839984"/>
            <a:ext cx="4790890"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40040324620027</a:t>
            </a:r>
          </a:p>
        </p:txBody>
      </p:sp>
      <p:sp>
        <p:nvSpPr>
          <p:cNvPr name="TextBox 26" id="26"/>
          <p:cNvSpPr txBox="true"/>
          <p:nvPr/>
        </p:nvSpPr>
        <p:spPr>
          <a:xfrm rot="0">
            <a:off x="2676921" y="9228775"/>
            <a:ext cx="6467079" cy="580390"/>
          </a:xfrm>
          <a:prstGeom prst="rect">
            <a:avLst/>
          </a:prstGeom>
        </p:spPr>
        <p:txBody>
          <a:bodyPr anchor="t" rtlCol="false" tIns="0" lIns="0" bIns="0" rIns="0">
            <a:spAutoFit/>
          </a:bodyPr>
          <a:lstStyle/>
          <a:p>
            <a:pPr algn="l">
              <a:lnSpc>
                <a:spcPts val="4759"/>
              </a:lnSpc>
            </a:pPr>
            <a:r>
              <a:rPr lang="en-US" sz="3399" b="true">
                <a:solidFill>
                  <a:srgbClr val="FFFFFF"/>
                </a:solidFill>
                <a:latin typeface="Glacial Indifference Bold"/>
                <a:ea typeface="Glacial Indifference Bold"/>
                <a:cs typeface="Glacial Indifference Bold"/>
                <a:sym typeface="Glacial Indifference Bold"/>
              </a:rPr>
              <a:t>PRAKTIKUM SISTEM EMBEDDED</a:t>
            </a:r>
          </a:p>
        </p:txBody>
      </p:sp>
      <p:sp>
        <p:nvSpPr>
          <p:cNvPr name="Freeform 27" id="27"/>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95090">
            <a:off x="-5172154" y="-106783"/>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38B6FF"/>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452281" y="8016035"/>
            <a:ext cx="3905319" cy="4114800"/>
          </a:xfrm>
          <a:custGeom>
            <a:avLst/>
            <a:gdLst/>
            <a:ahLst/>
            <a:cxnLst/>
            <a:rect r="r" b="b" t="t" l="l"/>
            <a:pathLst>
              <a:path h="4114800" w="3905319">
                <a:moveTo>
                  <a:pt x="0" y="0"/>
                </a:moveTo>
                <a:lnTo>
                  <a:pt x="3905319" y="0"/>
                </a:lnTo>
                <a:lnTo>
                  <a:pt x="390531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10073435"/>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CE1E6"/>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600950" y="3024285"/>
            <a:ext cx="10687050" cy="4172171"/>
            <a:chOff x="0" y="0"/>
            <a:chExt cx="2814696" cy="1098844"/>
          </a:xfrm>
        </p:grpSpPr>
        <p:sp>
          <p:nvSpPr>
            <p:cNvPr name="Freeform 10" id="10"/>
            <p:cNvSpPr/>
            <p:nvPr/>
          </p:nvSpPr>
          <p:spPr>
            <a:xfrm flipH="false" flipV="false" rot="0">
              <a:off x="0" y="0"/>
              <a:ext cx="2814696" cy="1098843"/>
            </a:xfrm>
            <a:custGeom>
              <a:avLst/>
              <a:gdLst/>
              <a:ahLst/>
              <a:cxnLst/>
              <a:rect r="r" b="b" t="t" l="l"/>
              <a:pathLst>
                <a:path h="1098843" w="2814696">
                  <a:moveTo>
                    <a:pt x="0" y="0"/>
                  </a:moveTo>
                  <a:lnTo>
                    <a:pt x="2814696" y="0"/>
                  </a:lnTo>
                  <a:lnTo>
                    <a:pt x="2814696" y="1098843"/>
                  </a:lnTo>
                  <a:lnTo>
                    <a:pt x="0" y="1098843"/>
                  </a:lnTo>
                  <a:close/>
                </a:path>
              </a:pathLst>
            </a:custGeom>
            <a:solidFill>
              <a:srgbClr val="38B6FF"/>
            </a:solidFill>
          </p:spPr>
        </p:sp>
        <p:sp>
          <p:nvSpPr>
            <p:cNvPr name="TextBox 11" id="11"/>
            <p:cNvSpPr txBox="true"/>
            <p:nvPr/>
          </p:nvSpPr>
          <p:spPr>
            <a:xfrm>
              <a:off x="0" y="-38100"/>
              <a:ext cx="2814696" cy="113694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447740" y="-572330"/>
            <a:ext cx="3118541" cy="3118541"/>
          </a:xfrm>
          <a:custGeom>
            <a:avLst/>
            <a:gdLst/>
            <a:ahLst/>
            <a:cxnLst/>
            <a:rect r="r" b="b" t="t" l="l"/>
            <a:pathLst>
              <a:path h="3118541" w="3118541">
                <a:moveTo>
                  <a:pt x="0" y="0"/>
                </a:moveTo>
                <a:lnTo>
                  <a:pt x="3118541" y="0"/>
                </a:lnTo>
                <a:lnTo>
                  <a:pt x="3118541" y="3118542"/>
                </a:lnTo>
                <a:lnTo>
                  <a:pt x="0" y="31185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241409" y="6805162"/>
            <a:ext cx="1210872" cy="1210872"/>
          </a:xfrm>
          <a:custGeom>
            <a:avLst/>
            <a:gdLst/>
            <a:ahLst/>
            <a:cxnLst/>
            <a:rect r="r" b="b" t="t" l="l"/>
            <a:pathLst>
              <a:path h="1210872" w="1210872">
                <a:moveTo>
                  <a:pt x="0" y="0"/>
                </a:moveTo>
                <a:lnTo>
                  <a:pt x="1210872" y="0"/>
                </a:lnTo>
                <a:lnTo>
                  <a:pt x="1210872" y="1210873"/>
                </a:lnTo>
                <a:lnTo>
                  <a:pt x="0" y="12108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2651311" y="4620260"/>
            <a:ext cx="4949639" cy="1056005"/>
          </a:xfrm>
          <a:prstGeom prst="rect">
            <a:avLst/>
          </a:prstGeom>
        </p:spPr>
        <p:txBody>
          <a:bodyPr anchor="t" rtlCol="false" tIns="0" lIns="0" bIns="0" rIns="0">
            <a:spAutoFit/>
          </a:bodyPr>
          <a:lstStyle/>
          <a:p>
            <a:pPr algn="l">
              <a:lnSpc>
                <a:spcPts val="8259"/>
              </a:lnSpc>
            </a:pPr>
            <a:r>
              <a:rPr lang="en-US" sz="6999" b="true">
                <a:solidFill>
                  <a:srgbClr val="000000"/>
                </a:solidFill>
                <a:latin typeface="Glacial Indifference Bold"/>
                <a:ea typeface="Glacial Indifference Bold"/>
                <a:cs typeface="Glacial Indifference Bold"/>
                <a:sym typeface="Glacial Indifference Bold"/>
              </a:rPr>
              <a:t>Tujuan</a:t>
            </a:r>
          </a:p>
        </p:txBody>
      </p:sp>
      <p:sp>
        <p:nvSpPr>
          <p:cNvPr name="TextBox 15" id="15"/>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02</a:t>
            </a:r>
          </a:p>
        </p:txBody>
      </p:sp>
      <p:sp>
        <p:nvSpPr>
          <p:cNvPr name="TextBox 16" id="16"/>
          <p:cNvSpPr txBox="true"/>
          <p:nvPr/>
        </p:nvSpPr>
        <p:spPr>
          <a:xfrm rot="0">
            <a:off x="7813129" y="3114211"/>
            <a:ext cx="10262692" cy="4482766"/>
          </a:xfrm>
          <a:prstGeom prst="rect">
            <a:avLst/>
          </a:prstGeom>
        </p:spPr>
        <p:txBody>
          <a:bodyPr anchor="t" rtlCol="false" tIns="0" lIns="0" bIns="0" rIns="0">
            <a:spAutoFit/>
          </a:bodyPr>
          <a:lstStyle/>
          <a:p>
            <a:pPr algn="just" marL="613815" indent="-306907" lvl="1">
              <a:lnSpc>
                <a:spcPts val="3980"/>
              </a:lnSpc>
              <a:buFont typeface="Arial"/>
              <a:buChar char="•"/>
            </a:pPr>
            <a:r>
              <a:rPr lang="en-US" sz="2843">
                <a:solidFill>
                  <a:srgbClr val="000000"/>
                </a:solidFill>
                <a:latin typeface="Glacial Indifference"/>
                <a:ea typeface="Glacial Indifference"/>
                <a:cs typeface="Glacial Indifference"/>
                <a:sym typeface="Glacial Indifference"/>
              </a:rPr>
              <a:t>Memahami struktur paket data UART (Start, Data, Parity, dan Stop Bit).</a:t>
            </a:r>
          </a:p>
          <a:p>
            <a:pPr algn="just" marL="613815" indent="-306907" lvl="1">
              <a:lnSpc>
                <a:spcPts val="3980"/>
              </a:lnSpc>
              <a:buFont typeface="Arial"/>
              <a:buChar char="•"/>
            </a:pPr>
            <a:r>
              <a:rPr lang="en-US" sz="2843">
                <a:solidFill>
                  <a:srgbClr val="000000"/>
                </a:solidFill>
                <a:latin typeface="Glacial Indifference"/>
                <a:ea typeface="Glacial Indifference"/>
                <a:cs typeface="Glacial Indifference"/>
                <a:sym typeface="Glacial Indifference"/>
              </a:rPr>
              <a:t>Menganalisis efisiensi metode transfer data melalui Polling, In</a:t>
            </a:r>
            <a:r>
              <a:rPr lang="en-US" sz="2843">
                <a:solidFill>
                  <a:srgbClr val="000000"/>
                </a:solidFill>
                <a:latin typeface="Glacial Indifference"/>
                <a:ea typeface="Glacial Indifference"/>
                <a:cs typeface="Glacial Indifference"/>
                <a:sym typeface="Glacial Indifference"/>
              </a:rPr>
              <a:t>terrupt, dan DMA.</a:t>
            </a:r>
          </a:p>
          <a:p>
            <a:pPr algn="just" marL="613815" indent="-306907" lvl="1">
              <a:lnSpc>
                <a:spcPts val="3980"/>
              </a:lnSpc>
              <a:buFont typeface="Arial"/>
              <a:buChar char="•"/>
            </a:pPr>
            <a:r>
              <a:rPr lang="en-US" sz="2843">
                <a:solidFill>
                  <a:srgbClr val="000000"/>
                </a:solidFill>
                <a:latin typeface="Glacial Indifference"/>
                <a:ea typeface="Glacial Indifference"/>
                <a:cs typeface="Glacial Indifference"/>
                <a:sym typeface="Glacial Indifference"/>
              </a:rPr>
              <a:t>M</a:t>
            </a:r>
            <a:r>
              <a:rPr lang="en-US" sz="2843">
                <a:solidFill>
                  <a:srgbClr val="000000"/>
                </a:solidFill>
                <a:latin typeface="Glacial Indifference"/>
                <a:ea typeface="Glacial Indifference"/>
                <a:cs typeface="Glacial Indifference"/>
                <a:sym typeface="Glacial Indifference"/>
              </a:rPr>
              <a:t>engimplementasikan manajemen data yang aman menggunakan Ring Buffer dan Timeout Parsing.</a:t>
            </a:r>
          </a:p>
          <a:p>
            <a:pPr algn="just" marL="613815" indent="-306907" lvl="1">
              <a:lnSpc>
                <a:spcPts val="3980"/>
              </a:lnSpc>
              <a:buFont typeface="Arial"/>
              <a:buChar char="•"/>
            </a:pPr>
            <a:r>
              <a:rPr lang="en-US" sz="2843">
                <a:solidFill>
                  <a:srgbClr val="000000"/>
                </a:solidFill>
                <a:latin typeface="Glacial Indifference"/>
                <a:ea typeface="Glacial Indifference"/>
                <a:cs typeface="Glacial Indifference"/>
                <a:sym typeface="Glacial Indifference"/>
              </a:rPr>
              <a:t>Membandingkan fleksibilitas hardware antara STM32 (HAL) dan ESP32 (ESP-IDF).</a:t>
            </a:r>
          </a:p>
          <a:p>
            <a:pPr algn="just">
              <a:lnSpc>
                <a:spcPts val="3980"/>
              </a:lnSpc>
            </a:pPr>
          </a:p>
        </p:txBody>
      </p:sp>
      <p:sp>
        <p:nvSpPr>
          <p:cNvPr name="AutoShape 17" id="17"/>
          <p:cNvSpPr/>
          <p:nvPr/>
        </p:nvSpPr>
        <p:spPr>
          <a:xfrm>
            <a:off x="16564000" y="8877554"/>
            <a:ext cx="0" cy="761492"/>
          </a:xfrm>
          <a:prstGeom prst="line">
            <a:avLst/>
          </a:prstGeom>
          <a:ln cap="flat" w="95250">
            <a:solidFill>
              <a:srgbClr val="5CE1E6"/>
            </a:solidFill>
            <a:prstDash val="solid"/>
            <a:headEnd type="none" len="sm" w="sm"/>
            <a:tailEnd type="none" len="sm" w="sm"/>
          </a:ln>
        </p:spPr>
      </p:sp>
      <p:grpSp>
        <p:nvGrpSpPr>
          <p:cNvPr name="Group 18" id="18"/>
          <p:cNvGrpSpPr/>
          <p:nvPr/>
        </p:nvGrpSpPr>
        <p:grpSpPr>
          <a:xfrm rot="-995090">
            <a:off x="-4993597" y="585858"/>
            <a:ext cx="18288000" cy="213565"/>
            <a:chOff x="0" y="0"/>
            <a:chExt cx="4816593" cy="56248"/>
          </a:xfrm>
        </p:grpSpPr>
        <p:sp>
          <p:nvSpPr>
            <p:cNvPr name="Freeform 19" id="19"/>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38B6FF"/>
            </a:solidFill>
          </p:spPr>
        </p:sp>
        <p:sp>
          <p:nvSpPr>
            <p:cNvPr name="TextBox 20" id="20"/>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995090">
            <a:off x="-5448369" y="1486260"/>
            <a:ext cx="18288000" cy="213565"/>
            <a:chOff x="0" y="0"/>
            <a:chExt cx="4816593" cy="56248"/>
          </a:xfrm>
        </p:grpSpPr>
        <p:sp>
          <p:nvSpPr>
            <p:cNvPr name="Freeform 22" id="22"/>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38B6FF"/>
            </a:solidFill>
          </p:spPr>
        </p:sp>
        <p:sp>
          <p:nvSpPr>
            <p:cNvPr name="TextBox 23" id="23"/>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32160" y="9681564"/>
            <a:ext cx="1210872" cy="1210872"/>
          </a:xfrm>
          <a:custGeom>
            <a:avLst/>
            <a:gdLst/>
            <a:ahLst/>
            <a:cxnLst/>
            <a:rect r="r" b="b" t="t" l="l"/>
            <a:pathLst>
              <a:path h="1210872" w="1210872">
                <a:moveTo>
                  <a:pt x="0" y="0"/>
                </a:moveTo>
                <a:lnTo>
                  <a:pt x="1210873" y="0"/>
                </a:lnTo>
                <a:lnTo>
                  <a:pt x="1210873" y="1210872"/>
                </a:lnTo>
                <a:lnTo>
                  <a:pt x="0" y="1210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03</a:t>
            </a:r>
          </a:p>
        </p:txBody>
      </p:sp>
      <p:sp>
        <p:nvSpPr>
          <p:cNvPr name="Freeform 4" id="4"/>
          <p:cNvSpPr/>
          <p:nvPr/>
        </p:nvSpPr>
        <p:spPr>
          <a:xfrm flipH="false" flipV="false" rot="0">
            <a:off x="487387" y="487387"/>
            <a:ext cx="1082627" cy="1082627"/>
          </a:xfrm>
          <a:custGeom>
            <a:avLst/>
            <a:gdLst/>
            <a:ahLst/>
            <a:cxnLst/>
            <a:rect r="r" b="b" t="t" l="l"/>
            <a:pathLst>
              <a:path h="1082627" w="1082627">
                <a:moveTo>
                  <a:pt x="0" y="0"/>
                </a:moveTo>
                <a:lnTo>
                  <a:pt x="1082626" y="0"/>
                </a:lnTo>
                <a:lnTo>
                  <a:pt x="1082626" y="1082626"/>
                </a:lnTo>
                <a:lnTo>
                  <a:pt x="0" y="10826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6"/>
            <a:stretch>
              <a:fillRect l="0" t="0" r="0" b="0"/>
            </a:stretch>
          </a:blipFill>
        </p:spPr>
      </p:sp>
      <p:sp>
        <p:nvSpPr>
          <p:cNvPr name="AutoShape 6" id="6"/>
          <p:cNvSpPr/>
          <p:nvPr/>
        </p:nvSpPr>
        <p:spPr>
          <a:xfrm>
            <a:off x="16564000" y="8877554"/>
            <a:ext cx="0" cy="761492"/>
          </a:xfrm>
          <a:prstGeom prst="line">
            <a:avLst/>
          </a:prstGeom>
          <a:ln cap="flat" w="95250">
            <a:solidFill>
              <a:srgbClr val="38B6FF"/>
            </a:solidFill>
            <a:prstDash val="solid"/>
            <a:headEnd type="none" len="sm" w="sm"/>
            <a:tailEnd type="none" len="sm" w="sm"/>
          </a:ln>
        </p:spPr>
      </p:sp>
      <p:sp>
        <p:nvSpPr>
          <p:cNvPr name="TextBox 7" id="7"/>
          <p:cNvSpPr txBox="true"/>
          <p:nvPr/>
        </p:nvSpPr>
        <p:spPr>
          <a:xfrm rot="0">
            <a:off x="3193422" y="354037"/>
            <a:ext cx="11901156" cy="243205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Frame Data UART: Start, Data, Parity, dan Stop Bit</a:t>
            </a:r>
          </a:p>
        </p:txBody>
      </p:sp>
      <p:sp>
        <p:nvSpPr>
          <p:cNvPr name="TextBox 8" id="8"/>
          <p:cNvSpPr txBox="true"/>
          <p:nvPr/>
        </p:nvSpPr>
        <p:spPr>
          <a:xfrm rot="0">
            <a:off x="1028700" y="3438531"/>
            <a:ext cx="16230600" cy="4471670"/>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Dalam komunikasi UART, informasi dikirimkan dalam unit paket yang disebut Frame Data. Karena bersifat asinkron, setiap frame dimulai dengan Start Bit (logika rendah/0) untuk menyinkronkan detak pengirim dan penerima. Setelah itu, diikuti oleh Data Bits yang membawa informasi utama (biasanya 8 bit), dan Parity Bit opsional sebagai mekanisme pengecekan kesalahan sederhana. Terakhir, frame ditutup dengan Stop Bit (logika tinggi/1) untuk menandai akhir transmisi satu paket data sebelum memulai frame berikutnya. Sinyal idle pada jalur UART biasanya berada pada logika tinggi, sehingga Start Bit berfungsi sebagai pemicu transisi yang mendeteksi awal data.</a:t>
            </a:r>
          </a:p>
        </p:txBody>
      </p:sp>
      <p:grpSp>
        <p:nvGrpSpPr>
          <p:cNvPr name="Group 9" id="9"/>
          <p:cNvGrpSpPr/>
          <p:nvPr/>
        </p:nvGrpSpPr>
        <p:grpSpPr>
          <a:xfrm rot="5400000">
            <a:off x="7367095" y="8510095"/>
            <a:ext cx="619741" cy="2934068"/>
            <a:chOff x="0" y="0"/>
            <a:chExt cx="163224" cy="772759"/>
          </a:xfrm>
        </p:grpSpPr>
        <p:sp>
          <p:nvSpPr>
            <p:cNvPr name="Freeform 10" id="10"/>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CE1E6"/>
            </a:solidFill>
          </p:spPr>
        </p:sp>
        <p:sp>
          <p:nvSpPr>
            <p:cNvPr name="TextBox 11" id="11"/>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5398399" y="9475106"/>
            <a:ext cx="619741" cy="1004046"/>
            <a:chOff x="0" y="0"/>
            <a:chExt cx="163224" cy="264440"/>
          </a:xfrm>
        </p:grpSpPr>
        <p:sp>
          <p:nvSpPr>
            <p:cNvPr name="Freeform 13" id="13"/>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38B6FF"/>
            </a:solidFill>
          </p:spPr>
        </p:sp>
        <p:sp>
          <p:nvSpPr>
            <p:cNvPr name="TextBox 14" id="14"/>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2986801" y="7905635"/>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17668259" y="3174624"/>
            <a:ext cx="619741" cy="2934068"/>
            <a:chOff x="0" y="0"/>
            <a:chExt cx="163224" cy="772759"/>
          </a:xfrm>
        </p:grpSpPr>
        <p:sp>
          <p:nvSpPr>
            <p:cNvPr name="Freeform 17" id="17"/>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CE1E6"/>
            </a:solidFill>
          </p:spPr>
        </p:sp>
        <p:sp>
          <p:nvSpPr>
            <p:cNvPr name="TextBox 18" id="18"/>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7668259" y="6108330"/>
            <a:ext cx="619741" cy="1004046"/>
            <a:chOff x="0" y="0"/>
            <a:chExt cx="163224" cy="264440"/>
          </a:xfrm>
        </p:grpSpPr>
        <p:sp>
          <p:nvSpPr>
            <p:cNvPr name="Freeform 20" id="20"/>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38B6FF"/>
            </a:solidFill>
          </p:spPr>
        </p:sp>
        <p:sp>
          <p:nvSpPr>
            <p:cNvPr name="TextBox 21" id="21"/>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2100" y="7301494"/>
            <a:ext cx="16627070" cy="1576060"/>
            <a:chOff x="0" y="0"/>
            <a:chExt cx="4379146" cy="415094"/>
          </a:xfrm>
        </p:grpSpPr>
        <p:sp>
          <p:nvSpPr>
            <p:cNvPr name="Freeform 3" id="3"/>
            <p:cNvSpPr/>
            <p:nvPr/>
          </p:nvSpPr>
          <p:spPr>
            <a:xfrm flipH="false" flipV="false" rot="0">
              <a:off x="0" y="0"/>
              <a:ext cx="4379146" cy="415094"/>
            </a:xfrm>
            <a:custGeom>
              <a:avLst/>
              <a:gdLst/>
              <a:ahLst/>
              <a:cxnLst/>
              <a:rect r="r" b="b" t="t" l="l"/>
              <a:pathLst>
                <a:path h="415094" w="4379146">
                  <a:moveTo>
                    <a:pt x="0" y="0"/>
                  </a:moveTo>
                  <a:lnTo>
                    <a:pt x="4379146" y="0"/>
                  </a:lnTo>
                  <a:lnTo>
                    <a:pt x="4379146" y="415094"/>
                  </a:lnTo>
                  <a:lnTo>
                    <a:pt x="0" y="415094"/>
                  </a:lnTo>
                  <a:close/>
                </a:path>
              </a:pathLst>
            </a:custGeom>
            <a:solidFill>
              <a:srgbClr val="FFFFFF"/>
            </a:solidFill>
          </p:spPr>
        </p:sp>
        <p:sp>
          <p:nvSpPr>
            <p:cNvPr name="TextBox 4" id="4"/>
            <p:cNvSpPr txBox="true"/>
            <p:nvPr/>
          </p:nvSpPr>
          <p:spPr>
            <a:xfrm>
              <a:off x="0" y="-38100"/>
              <a:ext cx="4379146" cy="45319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960260" y="7300199"/>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013342" y="-857474"/>
            <a:ext cx="1886174" cy="1886174"/>
          </a:xfrm>
          <a:custGeom>
            <a:avLst/>
            <a:gdLst/>
            <a:ahLst/>
            <a:cxnLst/>
            <a:rect r="r" b="b" t="t" l="l"/>
            <a:pathLst>
              <a:path h="1886174" w="1886174">
                <a:moveTo>
                  <a:pt x="0" y="0"/>
                </a:moveTo>
                <a:lnTo>
                  <a:pt x="1886173" y="0"/>
                </a:lnTo>
                <a:lnTo>
                  <a:pt x="1886173" y="1886174"/>
                </a:lnTo>
                <a:lnTo>
                  <a:pt x="0" y="1886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04</a:t>
            </a:r>
          </a:p>
        </p:txBody>
      </p:sp>
      <p:sp>
        <p:nvSpPr>
          <p:cNvPr name="Freeform 8" id="8"/>
          <p:cNvSpPr/>
          <p:nvPr/>
        </p:nvSpPr>
        <p:spPr>
          <a:xfrm flipH="false" flipV="false" rot="0">
            <a:off x="1028700" y="399316"/>
            <a:ext cx="1082627" cy="1082627"/>
          </a:xfrm>
          <a:custGeom>
            <a:avLst/>
            <a:gdLst/>
            <a:ahLst/>
            <a:cxnLst/>
            <a:rect r="r" b="b" t="t" l="l"/>
            <a:pathLst>
              <a:path h="1082627" w="1082627">
                <a:moveTo>
                  <a:pt x="0" y="0"/>
                </a:moveTo>
                <a:lnTo>
                  <a:pt x="1082627" y="0"/>
                </a:lnTo>
                <a:lnTo>
                  <a:pt x="1082627" y="1082627"/>
                </a:lnTo>
                <a:lnTo>
                  <a:pt x="0" y="1082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8"/>
            <a:stretch>
              <a:fillRect l="0" t="0" r="0" b="0"/>
            </a:stretch>
          </a:blipFill>
        </p:spPr>
      </p:sp>
      <p:sp>
        <p:nvSpPr>
          <p:cNvPr name="TextBox 10" id="10"/>
          <p:cNvSpPr txBox="true"/>
          <p:nvPr/>
        </p:nvSpPr>
        <p:spPr>
          <a:xfrm rot="0">
            <a:off x="1028700" y="3438531"/>
            <a:ext cx="16230600" cy="3909695"/>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Konfigurasi 8N1 a</a:t>
            </a:r>
            <a:r>
              <a:rPr lang="en-US" sz="3200">
                <a:solidFill>
                  <a:srgbClr val="000000"/>
                </a:solidFill>
                <a:latin typeface="Glacial Indifference"/>
                <a:ea typeface="Glacial Indifference"/>
                <a:cs typeface="Glacial Indifference"/>
                <a:sym typeface="Glacial Indifference"/>
              </a:rPr>
              <a:t>dalah standar industri yang paling umum digunakan, yang berarti terdapat 8 bit data, N (No Parity), dan 1 stop bit. Agar komunikasi berhasil, kedua perangkat harus memiliki Baud Rate (kecepatan bit per detik) yang identik, misalnya 9600 atau 115200 bps. Ketidaksesuaian baud rate akan me</a:t>
            </a:r>
            <a:r>
              <a:rPr lang="en-US" sz="3200">
                <a:solidFill>
                  <a:srgbClr val="000000"/>
                </a:solidFill>
                <a:latin typeface="Glacial Indifference"/>
                <a:ea typeface="Glacial Indifference"/>
                <a:cs typeface="Glacial Indifference"/>
                <a:sym typeface="Glacial Indifference"/>
              </a:rPr>
              <a:t>nyebabkan data yang diterima menjadi karakter acak atau corrupt karena kegagalan sinkronisasi waktu pada level bit. Baud rate menentukan durasi setiap bit di dalam kabel, sehingga penyimpangan kecil sekalipun dapat menyebabkan akumulasi error pada data bit terakhir.</a:t>
            </a:r>
          </a:p>
        </p:txBody>
      </p:sp>
      <p:sp>
        <p:nvSpPr>
          <p:cNvPr name="AutoShape 11" id="11"/>
          <p:cNvSpPr/>
          <p:nvPr/>
        </p:nvSpPr>
        <p:spPr>
          <a:xfrm>
            <a:off x="16564000" y="8877554"/>
            <a:ext cx="0" cy="761492"/>
          </a:xfrm>
          <a:prstGeom prst="line">
            <a:avLst/>
          </a:prstGeom>
          <a:ln cap="flat" w="95250">
            <a:solidFill>
              <a:srgbClr val="38B6FF"/>
            </a:solidFill>
            <a:prstDash val="solid"/>
            <a:headEnd type="none" len="sm" w="sm"/>
            <a:tailEnd type="none" len="sm" w="sm"/>
          </a:ln>
        </p:spPr>
      </p:sp>
      <p:sp>
        <p:nvSpPr>
          <p:cNvPr name="TextBox 12" id="12"/>
          <p:cNvSpPr txBox="true"/>
          <p:nvPr/>
        </p:nvSpPr>
        <p:spPr>
          <a:xfrm rot="0">
            <a:off x="4016779" y="199243"/>
            <a:ext cx="10254442" cy="243205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Konfigurasi 8N1 dan Baud Rate</a:t>
            </a:r>
          </a:p>
        </p:txBody>
      </p:sp>
      <p:grpSp>
        <p:nvGrpSpPr>
          <p:cNvPr name="Group 13" id="13"/>
          <p:cNvGrpSpPr/>
          <p:nvPr/>
        </p:nvGrpSpPr>
        <p:grpSpPr>
          <a:xfrm rot="0">
            <a:off x="14681076" y="-1306460"/>
            <a:ext cx="619741" cy="2934068"/>
            <a:chOff x="0" y="0"/>
            <a:chExt cx="163224" cy="772759"/>
          </a:xfrm>
        </p:grpSpPr>
        <p:sp>
          <p:nvSpPr>
            <p:cNvPr name="Freeform 14" id="14"/>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CE1E6"/>
            </a:solidFill>
          </p:spPr>
        </p:sp>
        <p:sp>
          <p:nvSpPr>
            <p:cNvPr name="TextBox 15" id="15"/>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681076" y="1627247"/>
            <a:ext cx="619741" cy="1004046"/>
            <a:chOff x="0" y="0"/>
            <a:chExt cx="163224" cy="264440"/>
          </a:xfrm>
        </p:grpSpPr>
        <p:sp>
          <p:nvSpPr>
            <p:cNvPr name="Freeform 17" id="17"/>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38B6FF"/>
            </a:solidFill>
          </p:spPr>
        </p:sp>
        <p:sp>
          <p:nvSpPr>
            <p:cNvPr name="TextBox 18" id="18"/>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5400000">
            <a:off x="7367095" y="8510095"/>
            <a:ext cx="619741" cy="2934068"/>
            <a:chOff x="0" y="0"/>
            <a:chExt cx="163224" cy="772759"/>
          </a:xfrm>
        </p:grpSpPr>
        <p:sp>
          <p:nvSpPr>
            <p:cNvPr name="Freeform 20" id="20"/>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CE1E6"/>
            </a:solidFill>
          </p:spPr>
        </p:sp>
        <p:sp>
          <p:nvSpPr>
            <p:cNvPr name="TextBox 21" id="21"/>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5400000">
            <a:off x="5398399" y="9475106"/>
            <a:ext cx="619741" cy="1004046"/>
            <a:chOff x="0" y="0"/>
            <a:chExt cx="163224" cy="264440"/>
          </a:xfrm>
        </p:grpSpPr>
        <p:sp>
          <p:nvSpPr>
            <p:cNvPr name="Freeform 23" id="23"/>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38B6FF"/>
            </a:solidFill>
          </p:spPr>
        </p:sp>
        <p:sp>
          <p:nvSpPr>
            <p:cNvPr name="TextBox 24" id="24"/>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492359">
            <a:off x="4096275" y="9560476"/>
            <a:ext cx="18288000" cy="213565"/>
            <a:chOff x="0" y="0"/>
            <a:chExt cx="4816593" cy="56248"/>
          </a:xfrm>
        </p:grpSpPr>
        <p:sp>
          <p:nvSpPr>
            <p:cNvPr name="Freeform 26" id="2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38B6FF"/>
            </a:solidFill>
          </p:spPr>
        </p:sp>
        <p:sp>
          <p:nvSpPr>
            <p:cNvPr name="TextBox 27" id="2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2100" y="7301494"/>
            <a:ext cx="16627070" cy="1576060"/>
            <a:chOff x="0" y="0"/>
            <a:chExt cx="4379146" cy="415094"/>
          </a:xfrm>
        </p:grpSpPr>
        <p:sp>
          <p:nvSpPr>
            <p:cNvPr name="Freeform 3" id="3"/>
            <p:cNvSpPr/>
            <p:nvPr/>
          </p:nvSpPr>
          <p:spPr>
            <a:xfrm flipH="false" flipV="false" rot="0">
              <a:off x="0" y="0"/>
              <a:ext cx="4379146" cy="415094"/>
            </a:xfrm>
            <a:custGeom>
              <a:avLst/>
              <a:gdLst/>
              <a:ahLst/>
              <a:cxnLst/>
              <a:rect r="r" b="b" t="t" l="l"/>
              <a:pathLst>
                <a:path h="415094" w="4379146">
                  <a:moveTo>
                    <a:pt x="0" y="0"/>
                  </a:moveTo>
                  <a:lnTo>
                    <a:pt x="4379146" y="0"/>
                  </a:lnTo>
                  <a:lnTo>
                    <a:pt x="4379146" y="415094"/>
                  </a:lnTo>
                  <a:lnTo>
                    <a:pt x="0" y="415094"/>
                  </a:lnTo>
                  <a:close/>
                </a:path>
              </a:pathLst>
            </a:custGeom>
            <a:solidFill>
              <a:srgbClr val="FFFFFF"/>
            </a:solidFill>
          </p:spPr>
        </p:sp>
        <p:sp>
          <p:nvSpPr>
            <p:cNvPr name="TextBox 4" id="4"/>
            <p:cNvSpPr txBox="true"/>
            <p:nvPr/>
          </p:nvSpPr>
          <p:spPr>
            <a:xfrm>
              <a:off x="0" y="-38100"/>
              <a:ext cx="4379146" cy="45319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5421953"/>
            <a:ext cx="18288000" cy="4865047"/>
            <a:chOff x="0" y="0"/>
            <a:chExt cx="4816593" cy="1281329"/>
          </a:xfrm>
        </p:grpSpPr>
        <p:sp>
          <p:nvSpPr>
            <p:cNvPr name="Freeform 6" id="6"/>
            <p:cNvSpPr/>
            <p:nvPr/>
          </p:nvSpPr>
          <p:spPr>
            <a:xfrm flipH="false" flipV="false" rot="0">
              <a:off x="0" y="0"/>
              <a:ext cx="4816592" cy="1281329"/>
            </a:xfrm>
            <a:custGeom>
              <a:avLst/>
              <a:gdLst/>
              <a:ahLst/>
              <a:cxnLst/>
              <a:rect r="r" b="b" t="t" l="l"/>
              <a:pathLst>
                <a:path h="1281329" w="4816592">
                  <a:moveTo>
                    <a:pt x="0" y="0"/>
                  </a:moveTo>
                  <a:lnTo>
                    <a:pt x="4816592" y="0"/>
                  </a:lnTo>
                  <a:lnTo>
                    <a:pt x="4816592" y="1281329"/>
                  </a:lnTo>
                  <a:lnTo>
                    <a:pt x="0" y="1281329"/>
                  </a:lnTo>
                  <a:close/>
                </a:path>
              </a:pathLst>
            </a:custGeom>
            <a:solidFill>
              <a:srgbClr val="5CE1E6"/>
            </a:solidFill>
          </p:spPr>
        </p:sp>
        <p:sp>
          <p:nvSpPr>
            <p:cNvPr name="TextBox 7" id="7"/>
            <p:cNvSpPr txBox="true"/>
            <p:nvPr/>
          </p:nvSpPr>
          <p:spPr>
            <a:xfrm>
              <a:off x="0" y="-38100"/>
              <a:ext cx="4816593" cy="131942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286036" y="6609637"/>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41937" y="9163304"/>
            <a:ext cx="1886174" cy="1886174"/>
          </a:xfrm>
          <a:custGeom>
            <a:avLst/>
            <a:gdLst/>
            <a:ahLst/>
            <a:cxnLst/>
            <a:rect r="r" b="b" t="t" l="l"/>
            <a:pathLst>
              <a:path h="1886174" w="1886174">
                <a:moveTo>
                  <a:pt x="0" y="0"/>
                </a:moveTo>
                <a:lnTo>
                  <a:pt x="1886174" y="0"/>
                </a:lnTo>
                <a:lnTo>
                  <a:pt x="1886174" y="1886174"/>
                </a:lnTo>
                <a:lnTo>
                  <a:pt x="0" y="1886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05</a:t>
            </a:r>
          </a:p>
        </p:txBody>
      </p:sp>
      <p:sp>
        <p:nvSpPr>
          <p:cNvPr name="Freeform 11" id="11"/>
          <p:cNvSpPr/>
          <p:nvPr/>
        </p:nvSpPr>
        <p:spPr>
          <a:xfrm flipH="false" flipV="false" rot="0">
            <a:off x="1028700" y="399316"/>
            <a:ext cx="1082627" cy="1082627"/>
          </a:xfrm>
          <a:custGeom>
            <a:avLst/>
            <a:gdLst/>
            <a:ahLst/>
            <a:cxnLst/>
            <a:rect r="r" b="b" t="t" l="l"/>
            <a:pathLst>
              <a:path h="1082627" w="1082627">
                <a:moveTo>
                  <a:pt x="0" y="0"/>
                </a:moveTo>
                <a:lnTo>
                  <a:pt x="1082627" y="0"/>
                </a:lnTo>
                <a:lnTo>
                  <a:pt x="1082627" y="1082627"/>
                </a:lnTo>
                <a:lnTo>
                  <a:pt x="0" y="1082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8"/>
            <a:stretch>
              <a:fillRect l="0" t="0" r="0" b="0"/>
            </a:stretch>
          </a:blipFill>
        </p:spPr>
      </p:sp>
      <p:grpSp>
        <p:nvGrpSpPr>
          <p:cNvPr name="Group 13" id="13"/>
          <p:cNvGrpSpPr/>
          <p:nvPr/>
        </p:nvGrpSpPr>
        <p:grpSpPr>
          <a:xfrm rot="0">
            <a:off x="700765" y="3197081"/>
            <a:ext cx="17009740" cy="5571594"/>
            <a:chOff x="0" y="0"/>
            <a:chExt cx="4479932" cy="1467416"/>
          </a:xfrm>
        </p:grpSpPr>
        <p:sp>
          <p:nvSpPr>
            <p:cNvPr name="Freeform 14" id="14"/>
            <p:cNvSpPr/>
            <p:nvPr/>
          </p:nvSpPr>
          <p:spPr>
            <a:xfrm flipH="false" flipV="false" rot="0">
              <a:off x="0" y="0"/>
              <a:ext cx="4479932" cy="1467416"/>
            </a:xfrm>
            <a:custGeom>
              <a:avLst/>
              <a:gdLst/>
              <a:ahLst/>
              <a:cxnLst/>
              <a:rect r="r" b="b" t="t" l="l"/>
              <a:pathLst>
                <a:path h="1467416" w="4479932">
                  <a:moveTo>
                    <a:pt x="0" y="0"/>
                  </a:moveTo>
                  <a:lnTo>
                    <a:pt x="4479932" y="0"/>
                  </a:lnTo>
                  <a:lnTo>
                    <a:pt x="4479932" y="1467416"/>
                  </a:lnTo>
                  <a:lnTo>
                    <a:pt x="0" y="1467416"/>
                  </a:lnTo>
                  <a:close/>
                </a:path>
              </a:pathLst>
            </a:custGeom>
            <a:solidFill>
              <a:srgbClr val="38B6FF"/>
            </a:solidFill>
          </p:spPr>
        </p:sp>
        <p:sp>
          <p:nvSpPr>
            <p:cNvPr name="TextBox 15" id="15"/>
            <p:cNvSpPr txBox="true"/>
            <p:nvPr/>
          </p:nvSpPr>
          <p:spPr>
            <a:xfrm>
              <a:off x="0" y="-38100"/>
              <a:ext cx="4479932" cy="150551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92100" y="3424445"/>
            <a:ext cx="16627070" cy="5150838"/>
            <a:chOff x="0" y="0"/>
            <a:chExt cx="4379146" cy="1356599"/>
          </a:xfrm>
        </p:grpSpPr>
        <p:sp>
          <p:nvSpPr>
            <p:cNvPr name="Freeform 17" id="17"/>
            <p:cNvSpPr/>
            <p:nvPr/>
          </p:nvSpPr>
          <p:spPr>
            <a:xfrm flipH="false" flipV="false" rot="0">
              <a:off x="0" y="0"/>
              <a:ext cx="4379146" cy="1356599"/>
            </a:xfrm>
            <a:custGeom>
              <a:avLst/>
              <a:gdLst/>
              <a:ahLst/>
              <a:cxnLst/>
              <a:rect r="r" b="b" t="t" l="l"/>
              <a:pathLst>
                <a:path h="1356599" w="4379146">
                  <a:moveTo>
                    <a:pt x="0" y="0"/>
                  </a:moveTo>
                  <a:lnTo>
                    <a:pt x="4379146" y="0"/>
                  </a:lnTo>
                  <a:lnTo>
                    <a:pt x="4379146" y="1356599"/>
                  </a:lnTo>
                  <a:lnTo>
                    <a:pt x="0" y="1356599"/>
                  </a:lnTo>
                  <a:close/>
                </a:path>
              </a:pathLst>
            </a:custGeom>
            <a:solidFill>
              <a:srgbClr val="FFFFFF"/>
            </a:solidFill>
          </p:spPr>
        </p:sp>
        <p:sp>
          <p:nvSpPr>
            <p:cNvPr name="TextBox 18" id="18"/>
            <p:cNvSpPr txBox="true"/>
            <p:nvPr/>
          </p:nvSpPr>
          <p:spPr>
            <a:xfrm>
              <a:off x="0" y="-38100"/>
              <a:ext cx="4379146" cy="139469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376350" y="3437481"/>
            <a:ext cx="15535300" cy="5033645"/>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Terdapat tiga tingkatan efisiensi dalam menangani UART. Polling adalah</a:t>
            </a:r>
            <a:r>
              <a:rPr lang="en-US" sz="3200">
                <a:solidFill>
                  <a:srgbClr val="000000"/>
                </a:solidFill>
                <a:latin typeface="Glacial Indifference"/>
                <a:ea typeface="Glacial Indifference"/>
                <a:cs typeface="Glacial Indifference"/>
                <a:sym typeface="Glacial Indifference"/>
              </a:rPr>
              <a:t> metode di mana CPU terus-menerus menunggu register data, yang sering kali menyebabkan pemborosan sumber daya prosesor. Interrupt lebih cerdas karena CPU hanya akan merespons saat ada data masuk melalui handler khusus (ISR). Sedangkan DMA (Direct Memory Access) adalah metode paling efisien karena memindahkan data langsung dari periferal ke memori tanpa melibatkan CPU sama sekali, sehingga prosesor dapat menjalankan tugas berat lainnya secara simultan. Penggunaan DMA sangat direkomendasikan pada aplikasi dengan throughput data</a:t>
            </a:r>
            <a:r>
              <a:rPr lang="en-US" sz="3200">
                <a:solidFill>
                  <a:srgbClr val="000000"/>
                </a:solidFill>
                <a:latin typeface="Glacial Indifference"/>
                <a:ea typeface="Glacial Indifference"/>
                <a:cs typeface="Glacial Indifference"/>
                <a:sym typeface="Glacial Indifference"/>
              </a:rPr>
              <a:t> tinggi agar risiko overrun error dapat diminimalisir.</a:t>
            </a:r>
          </a:p>
        </p:txBody>
      </p:sp>
      <p:sp>
        <p:nvSpPr>
          <p:cNvPr name="AutoShape 20" id="20"/>
          <p:cNvSpPr/>
          <p:nvPr/>
        </p:nvSpPr>
        <p:spPr>
          <a:xfrm>
            <a:off x="16564000" y="8877554"/>
            <a:ext cx="0" cy="761492"/>
          </a:xfrm>
          <a:prstGeom prst="line">
            <a:avLst/>
          </a:prstGeom>
          <a:ln cap="flat" w="95250">
            <a:solidFill>
              <a:srgbClr val="38B6FF"/>
            </a:solidFill>
            <a:prstDash val="solid"/>
            <a:headEnd type="none" len="sm" w="sm"/>
            <a:tailEnd type="none" len="sm" w="sm"/>
          </a:ln>
        </p:spPr>
      </p:sp>
      <p:sp>
        <p:nvSpPr>
          <p:cNvPr name="TextBox 21" id="21"/>
          <p:cNvSpPr txBox="true"/>
          <p:nvPr/>
        </p:nvSpPr>
        <p:spPr>
          <a:xfrm rot="0">
            <a:off x="3013342" y="365125"/>
            <a:ext cx="12261317" cy="243205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Perbedaan Polling vs Interrupt vs DMA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421953"/>
            <a:ext cx="18288000" cy="4865047"/>
            <a:chOff x="0" y="0"/>
            <a:chExt cx="4816593" cy="1281329"/>
          </a:xfrm>
        </p:grpSpPr>
        <p:sp>
          <p:nvSpPr>
            <p:cNvPr name="Freeform 3" id="3"/>
            <p:cNvSpPr/>
            <p:nvPr/>
          </p:nvSpPr>
          <p:spPr>
            <a:xfrm flipH="false" flipV="false" rot="0">
              <a:off x="0" y="0"/>
              <a:ext cx="4816592" cy="1281329"/>
            </a:xfrm>
            <a:custGeom>
              <a:avLst/>
              <a:gdLst/>
              <a:ahLst/>
              <a:cxnLst/>
              <a:rect r="r" b="b" t="t" l="l"/>
              <a:pathLst>
                <a:path h="1281329" w="4816592">
                  <a:moveTo>
                    <a:pt x="0" y="0"/>
                  </a:moveTo>
                  <a:lnTo>
                    <a:pt x="4816592" y="0"/>
                  </a:lnTo>
                  <a:lnTo>
                    <a:pt x="4816592" y="1281329"/>
                  </a:lnTo>
                  <a:lnTo>
                    <a:pt x="0" y="1281329"/>
                  </a:lnTo>
                  <a:close/>
                </a:path>
              </a:pathLst>
            </a:custGeom>
            <a:solidFill>
              <a:srgbClr val="5CE1E6"/>
            </a:solidFill>
          </p:spPr>
        </p:sp>
        <p:sp>
          <p:nvSpPr>
            <p:cNvPr name="TextBox 4" id="4"/>
            <p:cNvSpPr txBox="true"/>
            <p:nvPr/>
          </p:nvSpPr>
          <p:spPr>
            <a:xfrm>
              <a:off x="0" y="-38100"/>
              <a:ext cx="4816593" cy="13194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0" y="6958667"/>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52099" y="7601556"/>
            <a:ext cx="1210872" cy="1210872"/>
          </a:xfrm>
          <a:custGeom>
            <a:avLst/>
            <a:gdLst/>
            <a:ahLst/>
            <a:cxnLst/>
            <a:rect r="r" b="b" t="t" l="l"/>
            <a:pathLst>
              <a:path h="1210872" w="1210872">
                <a:moveTo>
                  <a:pt x="0" y="0"/>
                </a:moveTo>
                <a:lnTo>
                  <a:pt x="1210872" y="0"/>
                </a:lnTo>
                <a:lnTo>
                  <a:pt x="1210872" y="1210872"/>
                </a:lnTo>
                <a:lnTo>
                  <a:pt x="0" y="1210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06</a:t>
            </a:r>
          </a:p>
        </p:txBody>
      </p:sp>
      <p:sp>
        <p:nvSpPr>
          <p:cNvPr name="Freeform 8" id="8"/>
          <p:cNvSpPr/>
          <p:nvPr/>
        </p:nvSpPr>
        <p:spPr>
          <a:xfrm flipH="false" flipV="false" rot="0">
            <a:off x="487387" y="487387"/>
            <a:ext cx="1082627" cy="1082627"/>
          </a:xfrm>
          <a:custGeom>
            <a:avLst/>
            <a:gdLst/>
            <a:ahLst/>
            <a:cxnLst/>
            <a:rect r="r" b="b" t="t" l="l"/>
            <a:pathLst>
              <a:path h="1082627" w="1082627">
                <a:moveTo>
                  <a:pt x="0" y="0"/>
                </a:moveTo>
                <a:lnTo>
                  <a:pt x="1082626" y="0"/>
                </a:lnTo>
                <a:lnTo>
                  <a:pt x="1082626" y="1082626"/>
                </a:lnTo>
                <a:lnTo>
                  <a:pt x="0" y="10826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8"/>
            <a:stretch>
              <a:fillRect l="0" t="0" r="0" b="0"/>
            </a:stretch>
          </a:blipFill>
        </p:spPr>
      </p:sp>
      <p:grpSp>
        <p:nvGrpSpPr>
          <p:cNvPr name="Group 10" id="10"/>
          <p:cNvGrpSpPr/>
          <p:nvPr/>
        </p:nvGrpSpPr>
        <p:grpSpPr>
          <a:xfrm rot="0">
            <a:off x="830465" y="3622877"/>
            <a:ext cx="16627070" cy="4584115"/>
            <a:chOff x="0" y="0"/>
            <a:chExt cx="4379146" cy="1207339"/>
          </a:xfrm>
        </p:grpSpPr>
        <p:sp>
          <p:nvSpPr>
            <p:cNvPr name="Freeform 11" id="11"/>
            <p:cNvSpPr/>
            <p:nvPr/>
          </p:nvSpPr>
          <p:spPr>
            <a:xfrm flipH="false" flipV="false" rot="0">
              <a:off x="0" y="0"/>
              <a:ext cx="4379146" cy="1207339"/>
            </a:xfrm>
            <a:custGeom>
              <a:avLst/>
              <a:gdLst/>
              <a:ahLst/>
              <a:cxnLst/>
              <a:rect r="r" b="b" t="t" l="l"/>
              <a:pathLst>
                <a:path h="1207339" w="4379146">
                  <a:moveTo>
                    <a:pt x="0" y="0"/>
                  </a:moveTo>
                  <a:lnTo>
                    <a:pt x="4379146" y="0"/>
                  </a:lnTo>
                  <a:lnTo>
                    <a:pt x="4379146" y="1207339"/>
                  </a:lnTo>
                  <a:lnTo>
                    <a:pt x="0" y="1207339"/>
                  </a:lnTo>
                  <a:close/>
                </a:path>
              </a:pathLst>
            </a:custGeom>
            <a:solidFill>
              <a:srgbClr val="E4E4E4"/>
            </a:solidFill>
          </p:spPr>
        </p:sp>
        <p:sp>
          <p:nvSpPr>
            <p:cNvPr name="TextBox 12" id="12"/>
            <p:cNvSpPr txBox="true"/>
            <p:nvPr/>
          </p:nvSpPr>
          <p:spPr>
            <a:xfrm>
              <a:off x="0" y="-38100"/>
              <a:ext cx="4379146" cy="1245439"/>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376350" y="3650525"/>
            <a:ext cx="15535300" cy="447167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Glacial Indifference"/>
                <a:ea typeface="Glacial Indifference"/>
                <a:cs typeface="Glacial Indifference"/>
                <a:sym typeface="Glacial Indifference"/>
              </a:rPr>
              <a:t>Secara hardware, ESP32 menawarka</a:t>
            </a:r>
            <a:r>
              <a:rPr lang="en-US" sz="3200">
                <a:solidFill>
                  <a:srgbClr val="000000"/>
                </a:solidFill>
                <a:latin typeface="Glacial Indifference"/>
                <a:ea typeface="Glacial Indifference"/>
                <a:cs typeface="Glacial Indifference"/>
                <a:sym typeface="Glacial Indifference"/>
              </a:rPr>
              <a:t>n fleksibilitas tinggi dengan 3 port UART yang bersifat pin remappable, di mana jalur TX/RX bisa dipindah ke hampir semua GPIO melalui fitur GPIO Matrix. Sebaliknya, STM32 menyediakan hingga 3 atau lebih periferal USART yang memiliki fungsi pin tetap (Fixed Alternate Function), namun unggul dalam fitur sinkron dan dukungan hardware flow control yang sangat stabil untuk standar industri. Fleksibilitas ESP32 memudahkan desain jalur PCB karena kita tidak terpaku pada pin tertentu, sementara keunggulan STM32 terletak pada banyaknya variasi mode komunikasi yang didukung oleh satu periferal.</a:t>
            </a:r>
          </a:p>
        </p:txBody>
      </p:sp>
      <p:sp>
        <p:nvSpPr>
          <p:cNvPr name="AutoShape 14" id="14"/>
          <p:cNvSpPr/>
          <p:nvPr/>
        </p:nvSpPr>
        <p:spPr>
          <a:xfrm>
            <a:off x="16564000" y="8877554"/>
            <a:ext cx="0" cy="761492"/>
          </a:xfrm>
          <a:prstGeom prst="line">
            <a:avLst/>
          </a:prstGeom>
          <a:ln cap="flat" w="95250">
            <a:solidFill>
              <a:srgbClr val="38B6FF"/>
            </a:solidFill>
            <a:prstDash val="solid"/>
            <a:headEnd type="none" len="sm" w="sm"/>
            <a:tailEnd type="none" len="sm" w="sm"/>
          </a:ln>
        </p:spPr>
      </p:sp>
      <p:sp>
        <p:nvSpPr>
          <p:cNvPr name="TextBox 15" id="15"/>
          <p:cNvSpPr txBox="true"/>
          <p:nvPr/>
        </p:nvSpPr>
        <p:spPr>
          <a:xfrm rot="0">
            <a:off x="3193422" y="1217685"/>
            <a:ext cx="11901156" cy="119380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UART pada ESP32 vs STM32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2100" y="7301494"/>
            <a:ext cx="16627070" cy="1576060"/>
            <a:chOff x="0" y="0"/>
            <a:chExt cx="4379146" cy="415094"/>
          </a:xfrm>
        </p:grpSpPr>
        <p:sp>
          <p:nvSpPr>
            <p:cNvPr name="Freeform 3" id="3"/>
            <p:cNvSpPr/>
            <p:nvPr/>
          </p:nvSpPr>
          <p:spPr>
            <a:xfrm flipH="false" flipV="false" rot="0">
              <a:off x="0" y="0"/>
              <a:ext cx="4379146" cy="415094"/>
            </a:xfrm>
            <a:custGeom>
              <a:avLst/>
              <a:gdLst/>
              <a:ahLst/>
              <a:cxnLst/>
              <a:rect r="r" b="b" t="t" l="l"/>
              <a:pathLst>
                <a:path h="415094" w="4379146">
                  <a:moveTo>
                    <a:pt x="0" y="0"/>
                  </a:moveTo>
                  <a:lnTo>
                    <a:pt x="4379146" y="0"/>
                  </a:lnTo>
                  <a:lnTo>
                    <a:pt x="4379146" y="415094"/>
                  </a:lnTo>
                  <a:lnTo>
                    <a:pt x="0" y="415094"/>
                  </a:lnTo>
                  <a:close/>
                </a:path>
              </a:pathLst>
            </a:custGeom>
            <a:solidFill>
              <a:srgbClr val="FFFFFF"/>
            </a:solidFill>
          </p:spPr>
        </p:sp>
        <p:sp>
          <p:nvSpPr>
            <p:cNvPr name="TextBox 4" id="4"/>
            <p:cNvSpPr txBox="true"/>
            <p:nvPr/>
          </p:nvSpPr>
          <p:spPr>
            <a:xfrm>
              <a:off x="0" y="-38100"/>
              <a:ext cx="4379146" cy="45319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5421953"/>
            <a:ext cx="18288000" cy="4865047"/>
            <a:chOff x="0" y="0"/>
            <a:chExt cx="4816593" cy="1281329"/>
          </a:xfrm>
        </p:grpSpPr>
        <p:sp>
          <p:nvSpPr>
            <p:cNvPr name="Freeform 6" id="6"/>
            <p:cNvSpPr/>
            <p:nvPr/>
          </p:nvSpPr>
          <p:spPr>
            <a:xfrm flipH="false" flipV="false" rot="0">
              <a:off x="0" y="0"/>
              <a:ext cx="4816592" cy="1281329"/>
            </a:xfrm>
            <a:custGeom>
              <a:avLst/>
              <a:gdLst/>
              <a:ahLst/>
              <a:cxnLst/>
              <a:rect r="r" b="b" t="t" l="l"/>
              <a:pathLst>
                <a:path h="1281329" w="4816592">
                  <a:moveTo>
                    <a:pt x="0" y="0"/>
                  </a:moveTo>
                  <a:lnTo>
                    <a:pt x="4816592" y="0"/>
                  </a:lnTo>
                  <a:lnTo>
                    <a:pt x="4816592" y="1281329"/>
                  </a:lnTo>
                  <a:lnTo>
                    <a:pt x="0" y="1281329"/>
                  </a:lnTo>
                  <a:close/>
                </a:path>
              </a:pathLst>
            </a:custGeom>
            <a:solidFill>
              <a:srgbClr val="5CE1E6"/>
            </a:solidFill>
          </p:spPr>
        </p:sp>
        <p:sp>
          <p:nvSpPr>
            <p:cNvPr name="TextBox 7" id="7"/>
            <p:cNvSpPr txBox="true"/>
            <p:nvPr/>
          </p:nvSpPr>
          <p:spPr>
            <a:xfrm>
              <a:off x="0" y="-38100"/>
              <a:ext cx="4816593" cy="131942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286036" y="6609637"/>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41937" y="9163304"/>
            <a:ext cx="1886174" cy="1886174"/>
          </a:xfrm>
          <a:custGeom>
            <a:avLst/>
            <a:gdLst/>
            <a:ahLst/>
            <a:cxnLst/>
            <a:rect r="r" b="b" t="t" l="l"/>
            <a:pathLst>
              <a:path h="1886174" w="1886174">
                <a:moveTo>
                  <a:pt x="0" y="0"/>
                </a:moveTo>
                <a:lnTo>
                  <a:pt x="1886174" y="0"/>
                </a:lnTo>
                <a:lnTo>
                  <a:pt x="1886174" y="1886174"/>
                </a:lnTo>
                <a:lnTo>
                  <a:pt x="0" y="1886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07</a:t>
            </a:r>
          </a:p>
        </p:txBody>
      </p:sp>
      <p:sp>
        <p:nvSpPr>
          <p:cNvPr name="Freeform 11" id="11"/>
          <p:cNvSpPr/>
          <p:nvPr/>
        </p:nvSpPr>
        <p:spPr>
          <a:xfrm flipH="false" flipV="false" rot="0">
            <a:off x="1028700" y="399316"/>
            <a:ext cx="1082627" cy="1082627"/>
          </a:xfrm>
          <a:custGeom>
            <a:avLst/>
            <a:gdLst/>
            <a:ahLst/>
            <a:cxnLst/>
            <a:rect r="r" b="b" t="t" l="l"/>
            <a:pathLst>
              <a:path h="1082627" w="1082627">
                <a:moveTo>
                  <a:pt x="0" y="0"/>
                </a:moveTo>
                <a:lnTo>
                  <a:pt x="1082627" y="0"/>
                </a:lnTo>
                <a:lnTo>
                  <a:pt x="1082627" y="1082627"/>
                </a:lnTo>
                <a:lnTo>
                  <a:pt x="0" y="1082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8"/>
            <a:stretch>
              <a:fillRect l="0" t="0" r="0" b="0"/>
            </a:stretch>
          </a:blipFill>
        </p:spPr>
      </p:sp>
      <p:sp>
        <p:nvSpPr>
          <p:cNvPr name="AutoShape 13" id="13"/>
          <p:cNvSpPr/>
          <p:nvPr/>
        </p:nvSpPr>
        <p:spPr>
          <a:xfrm>
            <a:off x="16564000" y="8877554"/>
            <a:ext cx="0" cy="761492"/>
          </a:xfrm>
          <a:prstGeom prst="line">
            <a:avLst/>
          </a:prstGeom>
          <a:ln cap="flat" w="95250">
            <a:solidFill>
              <a:srgbClr val="38B6FF"/>
            </a:solidFill>
            <a:prstDash val="solid"/>
            <a:headEnd type="none" len="sm" w="sm"/>
            <a:tailEnd type="none" len="sm" w="sm"/>
          </a:ln>
        </p:spPr>
      </p:sp>
      <p:sp>
        <p:nvSpPr>
          <p:cNvPr name="TextBox 14" id="14"/>
          <p:cNvSpPr txBox="true"/>
          <p:nvPr/>
        </p:nvSpPr>
        <p:spPr>
          <a:xfrm rot="0">
            <a:off x="3013342" y="365125"/>
            <a:ext cx="12261317" cy="243205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Konsep Ring Buffer, Framing, CRC, dan Timeout Parsing</a:t>
            </a:r>
          </a:p>
        </p:txBody>
      </p:sp>
      <p:grpSp>
        <p:nvGrpSpPr>
          <p:cNvPr name="Group 15" id="15"/>
          <p:cNvGrpSpPr/>
          <p:nvPr/>
        </p:nvGrpSpPr>
        <p:grpSpPr>
          <a:xfrm rot="0">
            <a:off x="700765" y="3609518"/>
            <a:ext cx="17009740" cy="4999817"/>
            <a:chOff x="0" y="0"/>
            <a:chExt cx="4479932" cy="1316824"/>
          </a:xfrm>
        </p:grpSpPr>
        <p:sp>
          <p:nvSpPr>
            <p:cNvPr name="Freeform 16" id="16"/>
            <p:cNvSpPr/>
            <p:nvPr/>
          </p:nvSpPr>
          <p:spPr>
            <a:xfrm flipH="false" flipV="false" rot="0">
              <a:off x="0" y="0"/>
              <a:ext cx="4479932" cy="1316824"/>
            </a:xfrm>
            <a:custGeom>
              <a:avLst/>
              <a:gdLst/>
              <a:ahLst/>
              <a:cxnLst/>
              <a:rect r="r" b="b" t="t" l="l"/>
              <a:pathLst>
                <a:path h="1316824" w="4479932">
                  <a:moveTo>
                    <a:pt x="0" y="0"/>
                  </a:moveTo>
                  <a:lnTo>
                    <a:pt x="4479932" y="0"/>
                  </a:lnTo>
                  <a:lnTo>
                    <a:pt x="4479932" y="1316824"/>
                  </a:lnTo>
                  <a:lnTo>
                    <a:pt x="0" y="1316824"/>
                  </a:lnTo>
                  <a:close/>
                </a:path>
              </a:pathLst>
            </a:custGeom>
            <a:solidFill>
              <a:srgbClr val="38B6FF"/>
            </a:solidFill>
          </p:spPr>
        </p:sp>
        <p:sp>
          <p:nvSpPr>
            <p:cNvPr name="TextBox 17" id="17"/>
            <p:cNvSpPr txBox="true"/>
            <p:nvPr/>
          </p:nvSpPr>
          <p:spPr>
            <a:xfrm>
              <a:off x="0" y="-38100"/>
              <a:ext cx="4479932" cy="135492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92100" y="3787433"/>
            <a:ext cx="16627070" cy="4618553"/>
            <a:chOff x="0" y="0"/>
            <a:chExt cx="4379146" cy="1216409"/>
          </a:xfrm>
        </p:grpSpPr>
        <p:sp>
          <p:nvSpPr>
            <p:cNvPr name="Freeform 19" id="19"/>
            <p:cNvSpPr/>
            <p:nvPr/>
          </p:nvSpPr>
          <p:spPr>
            <a:xfrm flipH="false" flipV="false" rot="0">
              <a:off x="0" y="0"/>
              <a:ext cx="4379146" cy="1216409"/>
            </a:xfrm>
            <a:custGeom>
              <a:avLst/>
              <a:gdLst/>
              <a:ahLst/>
              <a:cxnLst/>
              <a:rect r="r" b="b" t="t" l="l"/>
              <a:pathLst>
                <a:path h="1216409" w="4379146">
                  <a:moveTo>
                    <a:pt x="0" y="0"/>
                  </a:moveTo>
                  <a:lnTo>
                    <a:pt x="4379146" y="0"/>
                  </a:lnTo>
                  <a:lnTo>
                    <a:pt x="4379146" y="1216409"/>
                  </a:lnTo>
                  <a:lnTo>
                    <a:pt x="0" y="1216409"/>
                  </a:lnTo>
                  <a:close/>
                </a:path>
              </a:pathLst>
            </a:custGeom>
            <a:solidFill>
              <a:srgbClr val="FFFFFF"/>
            </a:solidFill>
          </p:spPr>
        </p:sp>
        <p:sp>
          <p:nvSpPr>
            <p:cNvPr name="TextBox 20" id="20"/>
            <p:cNvSpPr txBox="true"/>
            <p:nvPr/>
          </p:nvSpPr>
          <p:spPr>
            <a:xfrm>
              <a:off x="0" y="-38100"/>
              <a:ext cx="4379146" cy="125450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376350" y="3794199"/>
            <a:ext cx="15535300" cy="4471670"/>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Untuk menangani aliran data yang cepat dan mencegah kehilanga</a:t>
            </a:r>
            <a:r>
              <a:rPr lang="en-US" sz="3200">
                <a:solidFill>
                  <a:srgbClr val="000000"/>
                </a:solidFill>
                <a:latin typeface="Glacial Indifference"/>
                <a:ea typeface="Glacial Indifference"/>
                <a:cs typeface="Glacial Indifference"/>
                <a:sym typeface="Glacial Indifference"/>
              </a:rPr>
              <a:t>n data (data loss), digunakan Ring Buffer (Circular Buffer) sebagai wadah penyimpanan sementara yang bekerja secara terus-menerus. Dalam sistem yang kritis, kita menerapkan Framing (penanda awal/akhir pesan) dan CRC (Cyclic Redundancy Check) untuk memastikan integritas data dari gangguan sinyal elektromagnetik. Selain itu, Timeout Parsing digunakan untuk memutus proses pembacaan jika data tidak lengkap dalam durasi tertentu, memastikan sistem tidak</a:t>
            </a:r>
            <a:r>
              <a:rPr lang="en-US" sz="3200">
                <a:solidFill>
                  <a:srgbClr val="000000"/>
                </a:solidFill>
                <a:latin typeface="Glacial Indifference"/>
                <a:ea typeface="Glacial Indifference"/>
                <a:cs typeface="Glacial Indifference"/>
                <a:sym typeface="Glacial Indifference"/>
              </a:rPr>
              <a:t> terjebak dalam kondisi infinite loop saat menunggu kiriman data yang hilang.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1785341" y="1679079"/>
            <a:ext cx="14717318" cy="6928841"/>
            <a:chOff x="0" y="0"/>
            <a:chExt cx="3876166" cy="1824880"/>
          </a:xfrm>
        </p:grpSpPr>
        <p:sp>
          <p:nvSpPr>
            <p:cNvPr name="Freeform 3" id="3"/>
            <p:cNvSpPr/>
            <p:nvPr/>
          </p:nvSpPr>
          <p:spPr>
            <a:xfrm flipH="false" flipV="false" rot="0">
              <a:off x="0" y="0"/>
              <a:ext cx="3876166" cy="1824880"/>
            </a:xfrm>
            <a:custGeom>
              <a:avLst/>
              <a:gdLst/>
              <a:ahLst/>
              <a:cxnLst/>
              <a:rect r="r" b="b" t="t" l="l"/>
              <a:pathLst>
                <a:path h="1824880" w="3876166">
                  <a:moveTo>
                    <a:pt x="0" y="0"/>
                  </a:moveTo>
                  <a:lnTo>
                    <a:pt x="3876166" y="0"/>
                  </a:lnTo>
                  <a:lnTo>
                    <a:pt x="3876166" y="1824880"/>
                  </a:lnTo>
                  <a:lnTo>
                    <a:pt x="0" y="1824880"/>
                  </a:lnTo>
                  <a:close/>
                </a:path>
              </a:pathLst>
            </a:custGeom>
            <a:solidFill>
              <a:srgbClr val="5CE1E6"/>
            </a:solidFill>
          </p:spPr>
        </p:sp>
        <p:sp>
          <p:nvSpPr>
            <p:cNvPr name="TextBox 4" id="4"/>
            <p:cNvSpPr txBox="true"/>
            <p:nvPr/>
          </p:nvSpPr>
          <p:spPr>
            <a:xfrm>
              <a:off x="0" y="-38100"/>
              <a:ext cx="3876166" cy="186298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193816" y="-1872565"/>
            <a:ext cx="5626389" cy="5626389"/>
          </a:xfrm>
          <a:custGeom>
            <a:avLst/>
            <a:gdLst/>
            <a:ahLst/>
            <a:cxnLst/>
            <a:rect r="r" b="b" t="t" l="l"/>
            <a:pathLst>
              <a:path h="5626389" w="5626389">
                <a:moveTo>
                  <a:pt x="0" y="0"/>
                </a:moveTo>
                <a:lnTo>
                  <a:pt x="5626389" y="0"/>
                </a:lnTo>
                <a:lnTo>
                  <a:pt x="5626389" y="5626390"/>
                </a:lnTo>
                <a:lnTo>
                  <a:pt x="0" y="5626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42740" y="2842069"/>
            <a:ext cx="1413018" cy="1236391"/>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1313694"/>
            <a:ext cx="1528376" cy="1528376"/>
          </a:xfrm>
          <a:custGeom>
            <a:avLst/>
            <a:gdLst/>
            <a:ahLst/>
            <a:cxnLst/>
            <a:rect r="r" b="b" t="t" l="l"/>
            <a:pathLst>
              <a:path h="1528376" w="1528376">
                <a:moveTo>
                  <a:pt x="0" y="0"/>
                </a:moveTo>
                <a:lnTo>
                  <a:pt x="1528376" y="0"/>
                </a:lnTo>
                <a:lnTo>
                  <a:pt x="1528376" y="1528375"/>
                </a:lnTo>
                <a:lnTo>
                  <a:pt x="0" y="152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4221" y="7272116"/>
            <a:ext cx="4777529" cy="4771073"/>
          </a:xfrm>
          <a:custGeom>
            <a:avLst/>
            <a:gdLst/>
            <a:ahLst/>
            <a:cxnLst/>
            <a:rect r="r" b="b" t="t" l="l"/>
            <a:pathLst>
              <a:path h="4771073" w="4777529">
                <a:moveTo>
                  <a:pt x="0" y="0"/>
                </a:moveTo>
                <a:lnTo>
                  <a:pt x="4777529" y="0"/>
                </a:lnTo>
                <a:lnTo>
                  <a:pt x="4777529" y="4771073"/>
                </a:lnTo>
                <a:lnTo>
                  <a:pt x="0" y="4771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386547" y="2622550"/>
            <a:ext cx="13514906" cy="4908550"/>
          </a:xfrm>
          <a:prstGeom prst="rect">
            <a:avLst/>
          </a:prstGeom>
        </p:spPr>
        <p:txBody>
          <a:bodyPr anchor="t" rtlCol="false" tIns="0" lIns="0" bIns="0" rIns="0">
            <a:spAutoFit/>
          </a:bodyPr>
          <a:lstStyle/>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PERCOBAAN 1</a:t>
            </a:r>
          </a:p>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Kontrol LED pada ESP32 menggunakan komunikasi UART dan GUI Python</a:t>
            </a:r>
          </a:p>
        </p:txBody>
      </p:sp>
      <p:sp>
        <p:nvSpPr>
          <p:cNvPr name="Freeform 12" id="12"/>
          <p:cNvSpPr/>
          <p:nvPr/>
        </p:nvSpPr>
        <p:spPr>
          <a:xfrm flipH="false" flipV="false" rot="0">
            <a:off x="4317571" y="7272116"/>
            <a:ext cx="1084179" cy="1084179"/>
          </a:xfrm>
          <a:custGeom>
            <a:avLst/>
            <a:gdLst/>
            <a:ahLst/>
            <a:cxnLst/>
            <a:rect r="r" b="b" t="t" l="l"/>
            <a:pathLst>
              <a:path h="1084179" w="1084179">
                <a:moveTo>
                  <a:pt x="0" y="0"/>
                </a:moveTo>
                <a:lnTo>
                  <a:pt x="1084179" y="0"/>
                </a:lnTo>
                <a:lnTo>
                  <a:pt x="1084179" y="1084179"/>
                </a:lnTo>
                <a:lnTo>
                  <a:pt x="0" y="1084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10"/>
            <a:stretch>
              <a:fillRect l="0" t="0" r="0" b="0"/>
            </a:stretch>
          </a:blipFill>
        </p:spPr>
      </p:sp>
      <p:sp>
        <p:nvSpPr>
          <p:cNvPr name="TextBox 14" id="14"/>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08</a:t>
            </a:r>
          </a:p>
        </p:txBody>
      </p:sp>
      <p:sp>
        <p:nvSpPr>
          <p:cNvPr name="AutoShape 15" id="15"/>
          <p:cNvSpPr/>
          <p:nvPr/>
        </p:nvSpPr>
        <p:spPr>
          <a:xfrm>
            <a:off x="16564000" y="8877554"/>
            <a:ext cx="0" cy="761492"/>
          </a:xfrm>
          <a:prstGeom prst="line">
            <a:avLst/>
          </a:prstGeom>
          <a:ln cap="flat" w="95250">
            <a:solidFill>
              <a:srgbClr val="5CE1E6"/>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1785341" y="1679079"/>
            <a:ext cx="14717318" cy="6928841"/>
            <a:chOff x="0" y="0"/>
            <a:chExt cx="3876166" cy="1824880"/>
          </a:xfrm>
        </p:grpSpPr>
        <p:sp>
          <p:nvSpPr>
            <p:cNvPr name="Freeform 3" id="3"/>
            <p:cNvSpPr/>
            <p:nvPr/>
          </p:nvSpPr>
          <p:spPr>
            <a:xfrm flipH="false" flipV="false" rot="0">
              <a:off x="0" y="0"/>
              <a:ext cx="3876166" cy="1824880"/>
            </a:xfrm>
            <a:custGeom>
              <a:avLst/>
              <a:gdLst/>
              <a:ahLst/>
              <a:cxnLst/>
              <a:rect r="r" b="b" t="t" l="l"/>
              <a:pathLst>
                <a:path h="1824880" w="3876166">
                  <a:moveTo>
                    <a:pt x="0" y="0"/>
                  </a:moveTo>
                  <a:lnTo>
                    <a:pt x="3876166" y="0"/>
                  </a:lnTo>
                  <a:lnTo>
                    <a:pt x="3876166" y="1824880"/>
                  </a:lnTo>
                  <a:lnTo>
                    <a:pt x="0" y="1824880"/>
                  </a:lnTo>
                  <a:close/>
                </a:path>
              </a:pathLst>
            </a:custGeom>
            <a:solidFill>
              <a:srgbClr val="5CE1E6"/>
            </a:solidFill>
          </p:spPr>
        </p:sp>
        <p:sp>
          <p:nvSpPr>
            <p:cNvPr name="TextBox 4" id="4"/>
            <p:cNvSpPr txBox="true"/>
            <p:nvPr/>
          </p:nvSpPr>
          <p:spPr>
            <a:xfrm>
              <a:off x="0" y="-38100"/>
              <a:ext cx="3876166" cy="186298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193816" y="-1872565"/>
            <a:ext cx="5626389" cy="5626389"/>
          </a:xfrm>
          <a:custGeom>
            <a:avLst/>
            <a:gdLst/>
            <a:ahLst/>
            <a:cxnLst/>
            <a:rect r="r" b="b" t="t" l="l"/>
            <a:pathLst>
              <a:path h="5626389" w="5626389">
                <a:moveTo>
                  <a:pt x="0" y="0"/>
                </a:moveTo>
                <a:lnTo>
                  <a:pt x="5626389" y="0"/>
                </a:lnTo>
                <a:lnTo>
                  <a:pt x="5626389" y="5626390"/>
                </a:lnTo>
                <a:lnTo>
                  <a:pt x="0" y="5626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42740" y="2842069"/>
            <a:ext cx="1413018" cy="1236391"/>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1313694"/>
            <a:ext cx="1528376" cy="1528376"/>
          </a:xfrm>
          <a:custGeom>
            <a:avLst/>
            <a:gdLst/>
            <a:ahLst/>
            <a:cxnLst/>
            <a:rect r="r" b="b" t="t" l="l"/>
            <a:pathLst>
              <a:path h="1528376" w="1528376">
                <a:moveTo>
                  <a:pt x="0" y="0"/>
                </a:moveTo>
                <a:lnTo>
                  <a:pt x="1528376" y="0"/>
                </a:lnTo>
                <a:lnTo>
                  <a:pt x="1528376" y="1528375"/>
                </a:lnTo>
                <a:lnTo>
                  <a:pt x="0" y="152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4221" y="7272116"/>
            <a:ext cx="4777529" cy="4771073"/>
          </a:xfrm>
          <a:custGeom>
            <a:avLst/>
            <a:gdLst/>
            <a:ahLst/>
            <a:cxnLst/>
            <a:rect r="r" b="b" t="t" l="l"/>
            <a:pathLst>
              <a:path h="4771073" w="4777529">
                <a:moveTo>
                  <a:pt x="0" y="0"/>
                </a:moveTo>
                <a:lnTo>
                  <a:pt x="4777529" y="0"/>
                </a:lnTo>
                <a:lnTo>
                  <a:pt x="4777529" y="4771073"/>
                </a:lnTo>
                <a:lnTo>
                  <a:pt x="0" y="4771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386547" y="2622550"/>
            <a:ext cx="13514906" cy="4908550"/>
          </a:xfrm>
          <a:prstGeom prst="rect">
            <a:avLst/>
          </a:prstGeom>
        </p:spPr>
        <p:txBody>
          <a:bodyPr anchor="t" rtlCol="false" tIns="0" lIns="0" bIns="0" rIns="0">
            <a:spAutoFit/>
          </a:bodyPr>
          <a:lstStyle/>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PERCOBAAN 2</a:t>
            </a:r>
          </a:p>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Kontrol LED pada STM32 menggunakan komunikasi UART dan GUI Python</a:t>
            </a:r>
          </a:p>
        </p:txBody>
      </p:sp>
      <p:sp>
        <p:nvSpPr>
          <p:cNvPr name="Freeform 12" id="12"/>
          <p:cNvSpPr/>
          <p:nvPr/>
        </p:nvSpPr>
        <p:spPr>
          <a:xfrm flipH="false" flipV="false" rot="0">
            <a:off x="4317571" y="7272116"/>
            <a:ext cx="1084179" cy="1084179"/>
          </a:xfrm>
          <a:custGeom>
            <a:avLst/>
            <a:gdLst/>
            <a:ahLst/>
            <a:cxnLst/>
            <a:rect r="r" b="b" t="t" l="l"/>
            <a:pathLst>
              <a:path h="1084179" w="1084179">
                <a:moveTo>
                  <a:pt x="0" y="0"/>
                </a:moveTo>
                <a:lnTo>
                  <a:pt x="1084179" y="0"/>
                </a:lnTo>
                <a:lnTo>
                  <a:pt x="1084179" y="1084179"/>
                </a:lnTo>
                <a:lnTo>
                  <a:pt x="0" y="1084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10"/>
            <a:stretch>
              <a:fillRect l="0" t="0" r="0" b="0"/>
            </a:stretch>
          </a:blipFill>
        </p:spPr>
      </p:sp>
      <p:sp>
        <p:nvSpPr>
          <p:cNvPr name="TextBox 14" id="14"/>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09</a:t>
            </a:r>
          </a:p>
        </p:txBody>
      </p:sp>
      <p:sp>
        <p:nvSpPr>
          <p:cNvPr name="AutoShape 15" id="15"/>
          <p:cNvSpPr/>
          <p:nvPr/>
        </p:nvSpPr>
        <p:spPr>
          <a:xfrm>
            <a:off x="16564000" y="8877554"/>
            <a:ext cx="0" cy="761492"/>
          </a:xfrm>
          <a:prstGeom prst="line">
            <a:avLst/>
          </a:prstGeom>
          <a:ln cap="flat" w="95250">
            <a:solidFill>
              <a:srgbClr val="5CE1E6"/>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1785341" y="1679079"/>
            <a:ext cx="14717318" cy="6928841"/>
            <a:chOff x="0" y="0"/>
            <a:chExt cx="3876166" cy="1824880"/>
          </a:xfrm>
        </p:grpSpPr>
        <p:sp>
          <p:nvSpPr>
            <p:cNvPr name="Freeform 3" id="3"/>
            <p:cNvSpPr/>
            <p:nvPr/>
          </p:nvSpPr>
          <p:spPr>
            <a:xfrm flipH="false" flipV="false" rot="0">
              <a:off x="0" y="0"/>
              <a:ext cx="3876166" cy="1824880"/>
            </a:xfrm>
            <a:custGeom>
              <a:avLst/>
              <a:gdLst/>
              <a:ahLst/>
              <a:cxnLst/>
              <a:rect r="r" b="b" t="t" l="l"/>
              <a:pathLst>
                <a:path h="1824880" w="3876166">
                  <a:moveTo>
                    <a:pt x="0" y="0"/>
                  </a:moveTo>
                  <a:lnTo>
                    <a:pt x="3876166" y="0"/>
                  </a:lnTo>
                  <a:lnTo>
                    <a:pt x="3876166" y="1824880"/>
                  </a:lnTo>
                  <a:lnTo>
                    <a:pt x="0" y="1824880"/>
                  </a:lnTo>
                  <a:close/>
                </a:path>
              </a:pathLst>
            </a:custGeom>
            <a:solidFill>
              <a:srgbClr val="5CE1E6"/>
            </a:solidFill>
          </p:spPr>
        </p:sp>
        <p:sp>
          <p:nvSpPr>
            <p:cNvPr name="TextBox 4" id="4"/>
            <p:cNvSpPr txBox="true"/>
            <p:nvPr/>
          </p:nvSpPr>
          <p:spPr>
            <a:xfrm>
              <a:off x="0" y="-38100"/>
              <a:ext cx="3876166" cy="186298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193816" y="-1872565"/>
            <a:ext cx="5626389" cy="5626389"/>
          </a:xfrm>
          <a:custGeom>
            <a:avLst/>
            <a:gdLst/>
            <a:ahLst/>
            <a:cxnLst/>
            <a:rect r="r" b="b" t="t" l="l"/>
            <a:pathLst>
              <a:path h="5626389" w="5626389">
                <a:moveTo>
                  <a:pt x="0" y="0"/>
                </a:moveTo>
                <a:lnTo>
                  <a:pt x="5626389" y="0"/>
                </a:lnTo>
                <a:lnTo>
                  <a:pt x="5626389" y="5626390"/>
                </a:lnTo>
                <a:lnTo>
                  <a:pt x="0" y="5626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42740" y="2842069"/>
            <a:ext cx="1413018" cy="1236391"/>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1313694"/>
            <a:ext cx="1528376" cy="1528376"/>
          </a:xfrm>
          <a:custGeom>
            <a:avLst/>
            <a:gdLst/>
            <a:ahLst/>
            <a:cxnLst/>
            <a:rect r="r" b="b" t="t" l="l"/>
            <a:pathLst>
              <a:path h="1528376" w="1528376">
                <a:moveTo>
                  <a:pt x="0" y="0"/>
                </a:moveTo>
                <a:lnTo>
                  <a:pt x="1528376" y="0"/>
                </a:lnTo>
                <a:lnTo>
                  <a:pt x="1528376" y="1528375"/>
                </a:lnTo>
                <a:lnTo>
                  <a:pt x="0" y="152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4221" y="7272116"/>
            <a:ext cx="4777529" cy="4771073"/>
          </a:xfrm>
          <a:custGeom>
            <a:avLst/>
            <a:gdLst/>
            <a:ahLst/>
            <a:cxnLst/>
            <a:rect r="r" b="b" t="t" l="l"/>
            <a:pathLst>
              <a:path h="4771073" w="4777529">
                <a:moveTo>
                  <a:pt x="0" y="0"/>
                </a:moveTo>
                <a:lnTo>
                  <a:pt x="4777529" y="0"/>
                </a:lnTo>
                <a:lnTo>
                  <a:pt x="4777529" y="4771073"/>
                </a:lnTo>
                <a:lnTo>
                  <a:pt x="0" y="4771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386547" y="3241675"/>
            <a:ext cx="13514906" cy="3670300"/>
          </a:xfrm>
          <a:prstGeom prst="rect">
            <a:avLst/>
          </a:prstGeom>
        </p:spPr>
        <p:txBody>
          <a:bodyPr anchor="t" rtlCol="false" tIns="0" lIns="0" bIns="0" rIns="0">
            <a:spAutoFit/>
          </a:bodyPr>
          <a:lstStyle/>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PERCOBAAN 3</a:t>
            </a:r>
          </a:p>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Komunikasi Half Duplex antara STM32 dan ESP32</a:t>
            </a:r>
          </a:p>
        </p:txBody>
      </p:sp>
      <p:sp>
        <p:nvSpPr>
          <p:cNvPr name="Freeform 12" id="12"/>
          <p:cNvSpPr/>
          <p:nvPr/>
        </p:nvSpPr>
        <p:spPr>
          <a:xfrm flipH="false" flipV="false" rot="0">
            <a:off x="4317571" y="7272116"/>
            <a:ext cx="1084179" cy="1084179"/>
          </a:xfrm>
          <a:custGeom>
            <a:avLst/>
            <a:gdLst/>
            <a:ahLst/>
            <a:cxnLst/>
            <a:rect r="r" b="b" t="t" l="l"/>
            <a:pathLst>
              <a:path h="1084179" w="1084179">
                <a:moveTo>
                  <a:pt x="0" y="0"/>
                </a:moveTo>
                <a:lnTo>
                  <a:pt x="1084179" y="0"/>
                </a:lnTo>
                <a:lnTo>
                  <a:pt x="1084179" y="1084179"/>
                </a:lnTo>
                <a:lnTo>
                  <a:pt x="0" y="1084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10"/>
            <a:stretch>
              <a:fillRect l="0" t="0" r="0" b="0"/>
            </a:stretch>
          </a:blipFill>
        </p:spPr>
      </p:sp>
      <p:sp>
        <p:nvSpPr>
          <p:cNvPr name="TextBox 14" id="14"/>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10</a:t>
            </a:r>
          </a:p>
        </p:txBody>
      </p:sp>
      <p:sp>
        <p:nvSpPr>
          <p:cNvPr name="AutoShape 15" id="15"/>
          <p:cNvSpPr/>
          <p:nvPr/>
        </p:nvSpPr>
        <p:spPr>
          <a:xfrm>
            <a:off x="16564000" y="8877554"/>
            <a:ext cx="0" cy="761492"/>
          </a:xfrm>
          <a:prstGeom prst="line">
            <a:avLst/>
          </a:prstGeom>
          <a:ln cap="flat" w="95250">
            <a:solidFill>
              <a:srgbClr val="5CE1E6"/>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sp>
        <p:nvSpPr>
          <p:cNvPr name="TextBox 2" id="2"/>
          <p:cNvSpPr txBox="true"/>
          <p:nvPr/>
        </p:nvSpPr>
        <p:spPr>
          <a:xfrm rot="0">
            <a:off x="6515976" y="497217"/>
            <a:ext cx="5256049" cy="1295400"/>
          </a:xfrm>
          <a:prstGeom prst="rect">
            <a:avLst/>
          </a:prstGeom>
        </p:spPr>
        <p:txBody>
          <a:bodyPr anchor="t" rtlCol="false" tIns="0" lIns="0" bIns="0" rIns="0">
            <a:spAutoFit/>
          </a:bodyPr>
          <a:lstStyle/>
          <a:p>
            <a:pPr algn="l">
              <a:lnSpc>
                <a:spcPts val="10500"/>
              </a:lnSpc>
            </a:pPr>
            <a:r>
              <a:rPr lang="en-US" sz="7500" b="true">
                <a:solidFill>
                  <a:srgbClr val="000000"/>
                </a:solidFill>
                <a:latin typeface="Glacial Indifference Bold"/>
                <a:ea typeface="Glacial Indifference Bold"/>
                <a:cs typeface="Glacial Indifference Bold"/>
                <a:sym typeface="Glacial Indifference Bold"/>
              </a:rPr>
              <a:t>Kesimpulan</a:t>
            </a:r>
          </a:p>
        </p:txBody>
      </p:sp>
      <p:sp>
        <p:nvSpPr>
          <p:cNvPr name="Freeform 3" id="3"/>
          <p:cNvSpPr/>
          <p:nvPr/>
        </p:nvSpPr>
        <p:spPr>
          <a:xfrm flipH="false" flipV="false" rot="0">
            <a:off x="-1613639" y="8040014"/>
            <a:ext cx="4072345" cy="4066842"/>
          </a:xfrm>
          <a:custGeom>
            <a:avLst/>
            <a:gdLst/>
            <a:ahLst/>
            <a:cxnLst/>
            <a:rect r="r" b="b" t="t" l="l"/>
            <a:pathLst>
              <a:path h="4066842" w="4072345">
                <a:moveTo>
                  <a:pt x="0" y="0"/>
                </a:moveTo>
                <a:lnTo>
                  <a:pt x="4072345" y="0"/>
                </a:lnTo>
                <a:lnTo>
                  <a:pt x="4072345" y="4066842"/>
                </a:lnTo>
                <a:lnTo>
                  <a:pt x="0" y="4066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4916595" y="-317609"/>
            <a:ext cx="4180831" cy="3386473"/>
          </a:xfrm>
          <a:custGeom>
            <a:avLst/>
            <a:gdLst/>
            <a:ahLst/>
            <a:cxnLst/>
            <a:rect r="r" b="b" t="t" l="l"/>
            <a:pathLst>
              <a:path h="3386473" w="4180831">
                <a:moveTo>
                  <a:pt x="0" y="3386473"/>
                </a:moveTo>
                <a:lnTo>
                  <a:pt x="4180831" y="3386473"/>
                </a:lnTo>
                <a:lnTo>
                  <a:pt x="4180831" y="0"/>
                </a:lnTo>
                <a:lnTo>
                  <a:pt x="0" y="0"/>
                </a:lnTo>
                <a:lnTo>
                  <a:pt x="0" y="338647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11</a:t>
            </a:r>
          </a:p>
        </p:txBody>
      </p:sp>
      <p:sp>
        <p:nvSpPr>
          <p:cNvPr name="AutoShape 6" id="6"/>
          <p:cNvSpPr/>
          <p:nvPr/>
        </p:nvSpPr>
        <p:spPr>
          <a:xfrm>
            <a:off x="16564000" y="8877554"/>
            <a:ext cx="0" cy="761492"/>
          </a:xfrm>
          <a:prstGeom prst="line">
            <a:avLst/>
          </a:prstGeom>
          <a:ln cap="flat" w="95250">
            <a:solidFill>
              <a:srgbClr val="5CE1E6"/>
            </a:solidFill>
            <a:prstDash val="solid"/>
            <a:headEnd type="none" len="sm" w="sm"/>
            <a:tailEnd type="none" len="sm" w="sm"/>
          </a:ln>
        </p:spPr>
      </p:sp>
      <p:sp>
        <p:nvSpPr>
          <p:cNvPr name="AutoShape 7" id="7"/>
          <p:cNvSpPr/>
          <p:nvPr/>
        </p:nvSpPr>
        <p:spPr>
          <a:xfrm flipV="true">
            <a:off x="422534" y="649617"/>
            <a:ext cx="0" cy="4198362"/>
          </a:xfrm>
          <a:prstGeom prst="line">
            <a:avLst/>
          </a:prstGeom>
          <a:ln cap="flat" w="66675">
            <a:solidFill>
              <a:srgbClr val="5CE1E6"/>
            </a:solidFill>
            <a:prstDash val="solid"/>
            <a:headEnd type="none" len="sm" w="sm"/>
            <a:tailEnd type="none" len="sm" w="sm"/>
          </a:ln>
        </p:spPr>
      </p:sp>
      <p:sp>
        <p:nvSpPr>
          <p:cNvPr name="Freeform 8" id="8"/>
          <p:cNvSpPr/>
          <p:nvPr/>
        </p:nvSpPr>
        <p:spPr>
          <a:xfrm flipH="false" flipV="false" rot="0">
            <a:off x="3925250" y="-536292"/>
            <a:ext cx="1072583" cy="1072583"/>
          </a:xfrm>
          <a:custGeom>
            <a:avLst/>
            <a:gdLst/>
            <a:ahLst/>
            <a:cxnLst/>
            <a:rect r="r" b="b" t="t" l="l"/>
            <a:pathLst>
              <a:path h="1072583" w="1072583">
                <a:moveTo>
                  <a:pt x="0" y="0"/>
                </a:moveTo>
                <a:lnTo>
                  <a:pt x="1072583" y="0"/>
                </a:lnTo>
                <a:lnTo>
                  <a:pt x="1072583" y="1072584"/>
                </a:lnTo>
                <a:lnTo>
                  <a:pt x="0" y="10725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020285" y="649617"/>
            <a:ext cx="1792620" cy="1452022"/>
          </a:xfrm>
          <a:custGeom>
            <a:avLst/>
            <a:gdLst/>
            <a:ahLst/>
            <a:cxnLst/>
            <a:rect r="r" b="b" t="t" l="l"/>
            <a:pathLst>
              <a:path h="1452022" w="1792620">
                <a:moveTo>
                  <a:pt x="0" y="0"/>
                </a:moveTo>
                <a:lnTo>
                  <a:pt x="1792620" y="0"/>
                </a:lnTo>
                <a:lnTo>
                  <a:pt x="1792620" y="1452022"/>
                </a:lnTo>
                <a:lnTo>
                  <a:pt x="0" y="14520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10"/>
            <a:stretch>
              <a:fillRect l="0" t="0" r="0" b="0"/>
            </a:stretch>
          </a:blipFill>
        </p:spPr>
      </p:sp>
      <p:sp>
        <p:nvSpPr>
          <p:cNvPr name="TextBox 11" id="11"/>
          <p:cNvSpPr txBox="true"/>
          <p:nvPr/>
        </p:nvSpPr>
        <p:spPr>
          <a:xfrm rot="0">
            <a:off x="2364756" y="2158789"/>
            <a:ext cx="13558487" cy="7281545"/>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Kesimpulan dari praktikum ini adalah bahwa komunikasi UART merupakan protokol asinkron yang sangat mengandalkan sinkronisasi Baud Rate dan struktur Frame Data (8N1), di mana ketidaksesuaian durasi bit sekecil apa pun dapat mengakibatkan korupsi data. Penggunaan metode DMA terbukti paling efisien untuk meminimalkan beban kerja CPU dibandingkan polling atau interrupt, terutama saat menangani aliran data cepat yang dibantu oleh mekanisme Ring Buffer dan Timeout Parsing untuk mencegah kehilangan informasi. Perbandingan arsitektur menunjukkan bahwa ESP32 unggul dalam fleksibilitas konfigurasi pin (remappable), sementara STM32 menawarkan stabilitas periferal USART yang lebih kompleks untuk standar industri. Secara keseluruhan, penerapan Framing dan CRC menjadi lapisan krusial untuk menjamin integritas data terhadap gangguan sinyal, memastikan sistem embedded tetap responsif dan tangguh dalam pertukaran data real-time.</a:t>
            </a:r>
          </a:p>
        </p:txBody>
      </p:sp>
      <p:grpSp>
        <p:nvGrpSpPr>
          <p:cNvPr name="Group 12" id="12"/>
          <p:cNvGrpSpPr/>
          <p:nvPr/>
        </p:nvGrpSpPr>
        <p:grpSpPr>
          <a:xfrm rot="0">
            <a:off x="1262662" y="410504"/>
            <a:ext cx="1413018" cy="1236391"/>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1785341" y="1679079"/>
            <a:ext cx="14717318" cy="6928841"/>
            <a:chOff x="0" y="0"/>
            <a:chExt cx="3876166" cy="1824880"/>
          </a:xfrm>
        </p:grpSpPr>
        <p:sp>
          <p:nvSpPr>
            <p:cNvPr name="Freeform 3" id="3"/>
            <p:cNvSpPr/>
            <p:nvPr/>
          </p:nvSpPr>
          <p:spPr>
            <a:xfrm flipH="false" flipV="false" rot="0">
              <a:off x="0" y="0"/>
              <a:ext cx="3876166" cy="1824880"/>
            </a:xfrm>
            <a:custGeom>
              <a:avLst/>
              <a:gdLst/>
              <a:ahLst/>
              <a:cxnLst/>
              <a:rect r="r" b="b" t="t" l="l"/>
              <a:pathLst>
                <a:path h="1824880" w="3876166">
                  <a:moveTo>
                    <a:pt x="0" y="0"/>
                  </a:moveTo>
                  <a:lnTo>
                    <a:pt x="3876166" y="0"/>
                  </a:lnTo>
                  <a:lnTo>
                    <a:pt x="3876166" y="1824880"/>
                  </a:lnTo>
                  <a:lnTo>
                    <a:pt x="0" y="1824880"/>
                  </a:lnTo>
                  <a:close/>
                </a:path>
              </a:pathLst>
            </a:custGeom>
            <a:solidFill>
              <a:srgbClr val="5CE1E6"/>
            </a:solidFill>
          </p:spPr>
        </p:sp>
        <p:sp>
          <p:nvSpPr>
            <p:cNvPr name="TextBox 4" id="4"/>
            <p:cNvSpPr txBox="true"/>
            <p:nvPr/>
          </p:nvSpPr>
          <p:spPr>
            <a:xfrm>
              <a:off x="0" y="-38100"/>
              <a:ext cx="3876166" cy="186298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193816" y="-1872565"/>
            <a:ext cx="5626389" cy="5626389"/>
          </a:xfrm>
          <a:custGeom>
            <a:avLst/>
            <a:gdLst/>
            <a:ahLst/>
            <a:cxnLst/>
            <a:rect r="r" b="b" t="t" l="l"/>
            <a:pathLst>
              <a:path h="5626389" w="5626389">
                <a:moveTo>
                  <a:pt x="0" y="0"/>
                </a:moveTo>
                <a:lnTo>
                  <a:pt x="5626389" y="0"/>
                </a:lnTo>
                <a:lnTo>
                  <a:pt x="5626389" y="5626390"/>
                </a:lnTo>
                <a:lnTo>
                  <a:pt x="0" y="5626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42740" y="2842069"/>
            <a:ext cx="1413018" cy="1236391"/>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1313694"/>
            <a:ext cx="1528376" cy="1528376"/>
          </a:xfrm>
          <a:custGeom>
            <a:avLst/>
            <a:gdLst/>
            <a:ahLst/>
            <a:cxnLst/>
            <a:rect r="r" b="b" t="t" l="l"/>
            <a:pathLst>
              <a:path h="1528376" w="1528376">
                <a:moveTo>
                  <a:pt x="0" y="0"/>
                </a:moveTo>
                <a:lnTo>
                  <a:pt x="1528376" y="0"/>
                </a:lnTo>
                <a:lnTo>
                  <a:pt x="1528376" y="1528375"/>
                </a:lnTo>
                <a:lnTo>
                  <a:pt x="0" y="152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4221" y="7272116"/>
            <a:ext cx="4777529" cy="4771073"/>
          </a:xfrm>
          <a:custGeom>
            <a:avLst/>
            <a:gdLst/>
            <a:ahLst/>
            <a:cxnLst/>
            <a:rect r="r" b="b" t="t" l="l"/>
            <a:pathLst>
              <a:path h="4771073" w="4777529">
                <a:moveTo>
                  <a:pt x="0" y="0"/>
                </a:moveTo>
                <a:lnTo>
                  <a:pt x="4777529" y="0"/>
                </a:lnTo>
                <a:lnTo>
                  <a:pt x="4777529" y="4771073"/>
                </a:lnTo>
                <a:lnTo>
                  <a:pt x="0" y="4771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386547" y="3908425"/>
            <a:ext cx="13514906" cy="2222501"/>
          </a:xfrm>
          <a:prstGeom prst="rect">
            <a:avLst/>
          </a:prstGeom>
        </p:spPr>
        <p:txBody>
          <a:bodyPr anchor="t" rtlCol="false" tIns="0" lIns="0" bIns="0" rIns="0">
            <a:spAutoFit/>
          </a:bodyPr>
          <a:lstStyle/>
          <a:p>
            <a:pPr algn="ctr">
              <a:lnSpc>
                <a:spcPts val="18199"/>
              </a:lnSpc>
            </a:pPr>
            <a:r>
              <a:rPr lang="en-US" sz="12999" b="true">
                <a:solidFill>
                  <a:srgbClr val="FFFFFF"/>
                </a:solidFill>
                <a:latin typeface="Glacial Indifference Bold"/>
                <a:ea typeface="Glacial Indifference Bold"/>
                <a:cs typeface="Glacial Indifference Bold"/>
                <a:sym typeface="Glacial Indifference Bold"/>
              </a:rPr>
              <a:t>Terima Kasih</a:t>
            </a:r>
          </a:p>
        </p:txBody>
      </p:sp>
      <p:sp>
        <p:nvSpPr>
          <p:cNvPr name="Freeform 12" id="12"/>
          <p:cNvSpPr/>
          <p:nvPr/>
        </p:nvSpPr>
        <p:spPr>
          <a:xfrm flipH="false" flipV="false" rot="0">
            <a:off x="4317571" y="7272116"/>
            <a:ext cx="1084179" cy="1084179"/>
          </a:xfrm>
          <a:custGeom>
            <a:avLst/>
            <a:gdLst/>
            <a:ahLst/>
            <a:cxnLst/>
            <a:rect r="r" b="b" t="t" l="l"/>
            <a:pathLst>
              <a:path h="1084179" w="1084179">
                <a:moveTo>
                  <a:pt x="0" y="0"/>
                </a:moveTo>
                <a:lnTo>
                  <a:pt x="1084179" y="0"/>
                </a:lnTo>
                <a:lnTo>
                  <a:pt x="1084179" y="1084179"/>
                </a:lnTo>
                <a:lnTo>
                  <a:pt x="0" y="1084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752837" y="0"/>
            <a:ext cx="2508346" cy="1881260"/>
          </a:xfrm>
          <a:custGeom>
            <a:avLst/>
            <a:gdLst/>
            <a:ahLst/>
            <a:cxnLst/>
            <a:rect r="r" b="b" t="t" l="l"/>
            <a:pathLst>
              <a:path h="1881260" w="2508346">
                <a:moveTo>
                  <a:pt x="0" y="0"/>
                </a:moveTo>
                <a:lnTo>
                  <a:pt x="2508347" y="0"/>
                </a:lnTo>
                <a:lnTo>
                  <a:pt x="2508347" y="1881260"/>
                </a:lnTo>
                <a:lnTo>
                  <a:pt x="0" y="1881260"/>
                </a:lnTo>
                <a:lnTo>
                  <a:pt x="0" y="0"/>
                </a:lnTo>
                <a:close/>
              </a:path>
            </a:pathLst>
          </a:custGeom>
          <a:blipFill>
            <a:blip r:embed="rId10"/>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DAHENtc18Lo</dc:identifier>
  <dcterms:modified xsi:type="dcterms:W3CDTF">2011-08-01T06:04:30Z</dcterms:modified>
  <cp:revision>1</cp:revision>
  <dc:title>SE 3</dc:title>
</cp:coreProperties>
</file>